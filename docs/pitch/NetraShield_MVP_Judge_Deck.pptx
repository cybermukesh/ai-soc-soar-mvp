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e51ddc647c483f" /><Relationship Type="http://schemas.openxmlformats.org/officeDocument/2006/relationships/extended-properties" Target="/docProps/app.xml" Id="R2537614a22a04cca" /><Relationship Type="http://schemas.openxmlformats.org/officeDocument/2006/relationships/officeDocument" Target="/ppt/presentation.xml" Id="R89aa9377e4d841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0532dfe25348a6"/>
  </p:sldMasterIdLst>
  <p:notesMasterIdLst>
    <p:notesMasterId xmlns:r="http://schemas.openxmlformats.org/officeDocument/2006/relationships" r:id="R16d272b8c6a14a3a"/>
  </p:notesMasterIdLst>
  <p:sldIdLst>
    <p:sldId xmlns:r="http://schemas.openxmlformats.org/officeDocument/2006/relationships" id="256" r:id="Rf291192c9fab4b6b"/>
    <p:sldId xmlns:r="http://schemas.openxmlformats.org/officeDocument/2006/relationships" id="257" r:id="Re56f30f1eb1848e6"/>
    <p:sldId xmlns:r="http://schemas.openxmlformats.org/officeDocument/2006/relationships" id="258" r:id="R2084858485644cb7"/>
    <p:sldId xmlns:r="http://schemas.openxmlformats.org/officeDocument/2006/relationships" id="259" r:id="R646dfab754074513"/>
    <p:sldId xmlns:r="http://schemas.openxmlformats.org/officeDocument/2006/relationships" id="260" r:id="R2a4574de35ac4196"/>
    <p:sldId xmlns:r="http://schemas.openxmlformats.org/officeDocument/2006/relationships" id="261" r:id="R4bb31e3fc3534a91"/>
    <p:sldId xmlns:r="http://schemas.openxmlformats.org/officeDocument/2006/relationships" id="262" r:id="Rca8fccb217ee419a"/>
    <p:sldId xmlns:r="http://schemas.openxmlformats.org/officeDocument/2006/relationships" id="263" r:id="R875a41c6b3734872"/>
    <p:sldId xmlns:r="http://schemas.openxmlformats.org/officeDocument/2006/relationships" id="264" r:id="R8cb5571bf6eb4ed3"/>
    <p:sldId xmlns:r="http://schemas.openxmlformats.org/officeDocument/2006/relationships" id="265" r:id="Ra63501c99edb49cc"/>
    <p:sldId xmlns:r="http://schemas.openxmlformats.org/officeDocument/2006/relationships" id="266" r:id="Rd7a555e690e543d6"/>
    <p:sldId xmlns:r="http://schemas.openxmlformats.org/officeDocument/2006/relationships" id="267" r:id="Rc918d11ee5ca4812"/>
    <p:sldId xmlns:r="http://schemas.openxmlformats.org/officeDocument/2006/relationships" id="268" r:id="R78a813c3926f4710"/>
    <p:sldId xmlns:r="http://schemas.openxmlformats.org/officeDocument/2006/relationships" id="269" r:id="R8c41348a844948ef"/>
    <p:sldId xmlns:r="http://schemas.openxmlformats.org/officeDocument/2006/relationships" id="270" r:id="R96a31506724c4777"/>
    <p:sldId xmlns:r="http://schemas.openxmlformats.org/officeDocument/2006/relationships" id="271" r:id="R6ce3325a4cbf4816"/>
    <p:sldId xmlns:r="http://schemas.openxmlformats.org/officeDocument/2006/relationships" id="272" r:id="R766880b51cff449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532dfe25348a6" /><Relationship Type="http://schemas.openxmlformats.org/officeDocument/2006/relationships/theme" Target="/ppt/theme/theme1.xml" Id="Rd9e3b1cb80024ec6" /><Relationship Type="http://schemas.openxmlformats.org/officeDocument/2006/relationships/notesMaster" Target="/ppt/notesMasters/notesMaster1.xml" Id="R16d272b8c6a14a3a" /><Relationship Type="http://schemas.openxmlformats.org/officeDocument/2006/relationships/presProps" Target="/ppt/presProps.xml" Id="R16665dd396c241f7" /><Relationship Type="http://schemas.openxmlformats.org/officeDocument/2006/relationships/viewProps" Target="/ppt/viewProps.xml" Id="R398e02e367814ce0" /><Relationship Type="http://schemas.openxmlformats.org/officeDocument/2006/relationships/tableStyles" Target="/ppt/tableStyles.xml" Id="Rf18387ddd7a54850" /><Relationship Type="http://schemas.openxmlformats.org/officeDocument/2006/relationships/slide" Target="/ppt/slides/slide1.xml" Id="Rf291192c9fab4b6b" /><Relationship Type="http://schemas.openxmlformats.org/officeDocument/2006/relationships/slide" Target="/ppt/slides/slide2.xml" Id="Re56f30f1eb1848e6" /><Relationship Type="http://schemas.openxmlformats.org/officeDocument/2006/relationships/slide" Target="/ppt/slides/slide3.xml" Id="R2084858485644cb7" /><Relationship Type="http://schemas.openxmlformats.org/officeDocument/2006/relationships/slide" Target="/ppt/slides/slide4.xml" Id="R646dfab754074513" /><Relationship Type="http://schemas.openxmlformats.org/officeDocument/2006/relationships/slide" Target="/ppt/slides/slide5.xml" Id="R2a4574de35ac4196" /><Relationship Type="http://schemas.openxmlformats.org/officeDocument/2006/relationships/slide" Target="/ppt/slides/slide6.xml" Id="R4bb31e3fc3534a91" /><Relationship Type="http://schemas.openxmlformats.org/officeDocument/2006/relationships/slide" Target="/ppt/slides/slide7.xml" Id="Rca8fccb217ee419a" /><Relationship Type="http://schemas.openxmlformats.org/officeDocument/2006/relationships/slide" Target="/ppt/slides/slide8.xml" Id="R875a41c6b3734872" /><Relationship Type="http://schemas.openxmlformats.org/officeDocument/2006/relationships/slide" Target="/ppt/slides/slide9.xml" Id="R8cb5571bf6eb4ed3" /><Relationship Type="http://schemas.openxmlformats.org/officeDocument/2006/relationships/slide" Target="/ppt/slides/slide10.xml" Id="Ra63501c99edb49cc" /><Relationship Type="http://schemas.openxmlformats.org/officeDocument/2006/relationships/slide" Target="/ppt/slides/slide11.xml" Id="Rd7a555e690e543d6" /><Relationship Type="http://schemas.openxmlformats.org/officeDocument/2006/relationships/slide" Target="/ppt/slides/slide12.xml" Id="Rc918d11ee5ca4812" /><Relationship Type="http://schemas.openxmlformats.org/officeDocument/2006/relationships/slide" Target="/ppt/slides/slide13.xml" Id="R78a813c3926f4710" /><Relationship Type="http://schemas.openxmlformats.org/officeDocument/2006/relationships/slide" Target="/ppt/slides/slide14.xml" Id="R8c41348a844948ef" /><Relationship Type="http://schemas.openxmlformats.org/officeDocument/2006/relationships/slide" Target="/ppt/slides/slide15.xml" Id="R96a31506724c4777" /><Relationship Type="http://schemas.openxmlformats.org/officeDocument/2006/relationships/slide" Target="/ppt/slides/slide16.xml" Id="R6ce3325a4cbf4816" /><Relationship Type="http://schemas.openxmlformats.org/officeDocument/2006/relationships/slide" Target="/ppt/slides/slide17.xml" Id="R766880b51cff44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aa8556108fe4f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1fd747a4174128" /><Relationship Type="http://schemas.openxmlformats.org/officeDocument/2006/relationships/notesMaster" Target="/ppt/notesMasters/notesMaster1.xml" Id="R8fdf584538b240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3452e8e9ec43b7" /><Relationship Type="http://schemas.openxmlformats.org/officeDocument/2006/relationships/notesMaster" Target="/ppt/notesMasters/notesMaster1.xml" Id="R0a872dd2144748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bcea6677c94f49" /><Relationship Type="http://schemas.openxmlformats.org/officeDocument/2006/relationships/notesMaster" Target="/ppt/notesMasters/notesMaster1.xml" Id="R3de6ad93ded04f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82387da23949dd" /><Relationship Type="http://schemas.openxmlformats.org/officeDocument/2006/relationships/notesMaster" Target="/ppt/notesMasters/notesMaster1.xml" Id="R151b4d2e417045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a86d3e23b54f70" /><Relationship Type="http://schemas.openxmlformats.org/officeDocument/2006/relationships/notesMaster" Target="/ppt/notesMasters/notesMaster1.xml" Id="R5558cd8f4fc446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7aecd62edd4b32" /><Relationship Type="http://schemas.openxmlformats.org/officeDocument/2006/relationships/notesMaster" Target="/ppt/notesMasters/notesMaster1.xml" Id="R475b5862c80b40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5baf63791f4b09" /><Relationship Type="http://schemas.openxmlformats.org/officeDocument/2006/relationships/notesMaster" Target="/ppt/notesMasters/notesMaster1.xml" Id="Rbf42c04032f641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d1d7f3372b493b" /><Relationship Type="http://schemas.openxmlformats.org/officeDocument/2006/relationships/notesMaster" Target="/ppt/notesMasters/notesMaster1.xml" Id="R30240e6f1f2848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996f47d39c4a48" /><Relationship Type="http://schemas.openxmlformats.org/officeDocument/2006/relationships/notesMaster" Target="/ppt/notesMasters/notesMaster1.xml" Id="R468b17ab586a46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4c1d38f26340ef" /><Relationship Type="http://schemas.openxmlformats.org/officeDocument/2006/relationships/notesMaster" Target="/ppt/notesMasters/notesMaster1.xml" Id="R79938f2c283647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dee6cd34df14bce" /><Relationship Type="http://schemas.openxmlformats.org/officeDocument/2006/relationships/notesMaster" Target="/ppt/notesMasters/notesMaster1.xml" Id="Rbd5f4df65d064f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c26080e0ea048af" /><Relationship Type="http://schemas.openxmlformats.org/officeDocument/2006/relationships/notesMaster" Target="/ppt/notesMasters/notesMaster1.xml" Id="R75c8c02d5fef42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5626cc1d5fb4f8c" /><Relationship Type="http://schemas.openxmlformats.org/officeDocument/2006/relationships/notesMaster" Target="/ppt/notesMasters/notesMaster1.xml" Id="R017ec99b7b12411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d493f11b8a49e4" /><Relationship Type="http://schemas.openxmlformats.org/officeDocument/2006/relationships/notesMaster" Target="/ppt/notesMasters/notesMaster1.xml" Id="R9162bac4ba9741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d4effdb2554223" /><Relationship Type="http://schemas.openxmlformats.org/officeDocument/2006/relationships/notesMaster" Target="/ppt/notesMasters/notesMaster1.xml" Id="R0acb7af8b19a402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f1ec7cff37547e7" /><Relationship Type="http://schemas.openxmlformats.org/officeDocument/2006/relationships/notesMaster" Target="/ppt/notesMasters/notesMaster1.xml" Id="R9d17af9a914049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9c6d80036604f43" /><Relationship Type="http://schemas.openxmlformats.org/officeDocument/2006/relationships/notesMaster" Target="/ppt/notesMasters/notesMaster1.xml" Id="R8dcf89cf731d4b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7b96ee998e493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5f9400fb9a4169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9778dace044ca" /><Relationship Type="http://schemas.openxmlformats.org/officeDocument/2006/relationships/theme" Target="/ppt/theme/theme1.xml" Id="R4e3f1dd334024885" /><Relationship Type="http://schemas.openxmlformats.org/officeDocument/2006/relationships/slideLayout" Target="/ppt/slideLayouts/slideLayout2.xml" Id="R877b41548ee34416" /><Relationship Type="http://schemas.openxmlformats.org/officeDocument/2006/relationships/slideLayout" Target="/ppt/slideLayouts/slideLayout3.xml" Id="R63dbd3b4579f48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8" r:id="R5f49778dace044ca"/>
    <p:sldLayoutId xmlns:r="http://schemas.openxmlformats.org/officeDocument/2006/relationships" id="2147483649" r:id="R877b41548ee34416"/>
    <p:sldLayoutId xmlns:r="http://schemas.openxmlformats.org/officeDocument/2006/relationships" id="2147483650" r:id="R63dbd3b4579f48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d54c3d893d4c29" /><Relationship Type="http://schemas.openxmlformats.org/officeDocument/2006/relationships/notesSlide" Target="/ppt/notesSlides/notesSlide1.xml" Id="R980ab3d9accc4f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e1f518bfa71467c" /><Relationship Type="http://schemas.openxmlformats.org/officeDocument/2006/relationships/notesSlide" Target="/ppt/notesSlides/notesSlide2.xml" Id="Rc39d1c55b66540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033f1142f824418" /><Relationship Type="http://schemas.openxmlformats.org/officeDocument/2006/relationships/notesSlide" Target="/ppt/notesSlides/notesSlide3.xml" Id="R7c8d58588fac42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c21b6f6b30d49b9" /><Relationship Type="http://schemas.openxmlformats.org/officeDocument/2006/relationships/notesSlide" Target="/ppt/notesSlides/notesSlide4.xml" Id="R4532bc44325640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9fb572fd3b4c4b" /><Relationship Type="http://schemas.openxmlformats.org/officeDocument/2006/relationships/notesSlide" Target="/ppt/notesSlides/notesSlide5.xml" Id="Re5c0d8e2dede40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2630a5816454bff" /><Relationship Type="http://schemas.openxmlformats.org/officeDocument/2006/relationships/notesSlide" Target="/ppt/notesSlides/notesSlide6.xml" Id="Rc4b1734d6fac44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6060acbc42d4598" /><Relationship Type="http://schemas.openxmlformats.org/officeDocument/2006/relationships/notesSlide" Target="/ppt/notesSlides/notesSlide7.xml" Id="Rd31902938f3f4c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7be951b26714eba" /><Relationship Type="http://schemas.openxmlformats.org/officeDocument/2006/relationships/notesSlide" Target="/ppt/notesSlides/notesSlide8.xml" Id="R5977dba4418e40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55588b935246aa" /><Relationship Type="http://schemas.openxmlformats.org/officeDocument/2006/relationships/notesSlide" Target="/ppt/notesSlides/notesSlide9.xml" Id="R649133c1255a44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3bcfd5774540e6" /><Relationship Type="http://schemas.openxmlformats.org/officeDocument/2006/relationships/notesSlide" Target="/ppt/notesSlides/notesSlide10.xml" Id="R4ab58ec0cc2c40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23588954274545" /><Relationship Type="http://schemas.openxmlformats.org/officeDocument/2006/relationships/notesSlide" Target="/ppt/notesSlides/notesSlide11.xml" Id="R4ee062bedfa84f6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8b1f7252934c6a" /><Relationship Type="http://schemas.openxmlformats.org/officeDocument/2006/relationships/notesSlide" Target="/ppt/notesSlides/notesSlide12.xml" Id="R255afbd24f99487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3326025ec64a7c" /><Relationship Type="http://schemas.openxmlformats.org/officeDocument/2006/relationships/notesSlide" Target="/ppt/notesSlides/notesSlide13.xml" Id="R8d92c89db86e4e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250556f2094f34" /><Relationship Type="http://schemas.openxmlformats.org/officeDocument/2006/relationships/notesSlide" Target="/ppt/notesSlides/notesSlide14.xml" Id="Re7f45a55c6534c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cf8eaad114bde" /><Relationship Type="http://schemas.openxmlformats.org/officeDocument/2006/relationships/notesSlide" Target="/ppt/notesSlides/notesSlide15.xml" Id="R43b136d26695464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08b3ee1624060" /><Relationship Type="http://schemas.openxmlformats.org/officeDocument/2006/relationships/notesSlide" Target="/ppt/notesSlides/notesSlide16.xml" Id="R684291e888d149d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c53ab77484e7b" /><Relationship Type="http://schemas.openxmlformats.org/officeDocument/2006/relationships/notesSlide" Target="/ppt/notesSlides/notesSlide17.xml" Id="R14459322f47c4ea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C00DFA-F704-4D37-A822-759480AB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84CA6-B5CE-4CCE-ACCD-90C31AAF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67F66-E774-4915-9E75-3FB47040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4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9386C-C8F9-4CB7-8302-74EC57B5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47750"/>
            <a:ext cx="2857500" cy="2857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B58"/>
          </a:solidFill>
          <a:ln xmlns:a="http://schemas.openxmlformats.org/drawingml/2006/main" w="0">
            <a:solidFill>
              <a:srgbClr val="173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25F32E-6F56-44C8-A186-5C255B22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7640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E9330-A026-4B9A-B3D1-19D0EB0F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NETRASHIELD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E8580-8A4E-4528-9FA2-E3583F0D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666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alert clarity layer for Wazuh-first SOC teams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462E2-6FA2-4715-8E3B-6EE39B51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628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9D4E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9D4E2"/>
                </a:solidFill>
                <a:latin typeface="Aptos"/>
                <a:ea typeface="Aptos"/>
                <a:cs typeface="Aptos"/>
              </a:rPr>
              <a:t>Noise reduction, analyst-ready triage, threat intel enrichment, case lifecycle, and approval-gated SOAR on low-cost infrastructure.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44BF5B-BC21-461E-9A7E-0D33796F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F3"/>
          </a:solidFill>
          <a:ln xmlns:a="http://schemas.openxmlformats.org/drawingml/2006/main" w="0">
            <a:solidFill>
              <a:srgbClr val="DFF7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D6E76-E76E-4351-A56A-CC4EFA6B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Wazuh-first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905934-F0B7-4BE4-943C-7E50B4AA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385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F"/>
          </a:solidFill>
          <a:ln xmlns:a="http://schemas.openxmlformats.org/drawingml/2006/main" w="0">
            <a:solidFill>
              <a:srgbClr val="E7EE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8FC81-780B-438B-9A5D-6ACD9F65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05225"/>
            <a:ext cx="1390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SIEM-agnostic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094F5C-907E-4A44-B57C-7C419B01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6385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solidFill>
              <a:srgbClr val="FFF3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D3295-59CD-4E9B-91DE-6A74453F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0522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Low token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123AD5-D5DC-4511-86EF-2390A63D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6385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F"/>
          </a:solidFill>
          <a:ln xmlns:a="http://schemas.openxmlformats.org/drawingml/2006/main" w="0">
            <a:solidFill>
              <a:srgbClr val="E5F7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BB5E04-9B3C-4D47-ADA9-8509C99E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0522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Self-hostable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43622A-D16F-46FE-940B-8BAEEE92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245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6E1F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6E1F0"/>
                </a:solidFill>
                <a:latin typeface="Aptos"/>
                <a:ea typeface="Aptos"/>
                <a:cs typeface="Aptos"/>
              </a:rPr>
              <a:t>Hackathon MVP | Clone, connect, demo in one server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367ABF-1372-489A-8B05-6AD69967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E11DC4-AC98-4BEE-91EA-B7C795E7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1737917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20CF0F-E4B5-44A6-8B71-2D79A027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7C295-CC26-4115-A082-67DB5DAF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09B414-5A70-4054-9611-2DCD9035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SOC teams are drowning in alerts, not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75EEB-BB70-4C12-AED4-55147B33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pain is worst for SMEs, startups, MSMEs, and small MSSPs that need monitoring but cannot afford enterprise SOC stacks.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AF49-AB13-4C26-A2F3-FBDC4A41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9A7279-C9A3-4716-A9DB-548AB20B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716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D94A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94A4A"/>
                </a:solidFill>
                <a:latin typeface="Aptos"/>
                <a:ea typeface="Aptos"/>
                <a:cs typeface="Aptos"/>
              </a:rPr>
              <a:t>Alert flood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57A91-8320-4A9F-BA2E-F14C2443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Duplicate, low-context SIEM events consume L1 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1F4CFA-E4D5-4BFB-B5E3-D1F3881D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0975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F0BB4-FEF9-4FEB-9E54-4EA72A2D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716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High cost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61081-63F8-4C60-9F50-02C767C1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622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Enterprise SOAR/SIEM AI layers are priced for large teams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0A3CAD-5410-40F2-8D5A-5CB7EA0F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0BB9C-25DB-44CA-A675-59FCE27F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716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Slow triage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DBE03A-24ED-418F-BC04-EFDB9648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Analysts manually collect rule, asset, user, IOC, and history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47496-2631-43DB-BD99-F0DC176E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0975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95848A-845D-488E-9615-2981E228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716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6B5DD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6B5DD3"/>
                </a:solidFill>
                <a:latin typeface="Aptos"/>
                <a:ea typeface="Aptos"/>
                <a:cs typeface="Aptos"/>
              </a:rPr>
              <a:t>Privacy 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E8A946-CEF7-4909-9097-E7DB34F5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3622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Raw logs sent to cloud AI can expose sensitive internal 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FBEC4-57D5-4FFF-BCBC-A299A3C9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4953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37860A-E0CB-4843-945C-64E8E961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DC0C2F-622D-4E32-95AB-D684DC24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14750"/>
            <a:ext cx="4591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Judge insight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E3B03F-58F4-436F-BCDA-B73232F7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38600"/>
            <a:ext cx="4591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AI by itself is not the product. The wedge is deciding which alerts deserve AI calls, what context to send, what to cache, and how to turn the result into a SOC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6CAA93-6DD5-4BC3-B8DB-2DADEA59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762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40C63C-5CCC-4517-AC86-2E99A7A3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449EA3-A7E0-4D80-850E-7927BC55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14750"/>
            <a:ext cx="4400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MVP target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97FF51-8F4F-413C-9AD4-F376C574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4005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Reduce L1 queue volume by grouping duplicates, suppressing validated noise, enriching real signals, and raising only analyst-ready cases.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3AAB8C-FB26-4FE3-B262-E2FD0752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E43CBB-0B6F-4DA4-9A04-C5629D3C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33066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CC7881-E672-49CC-B1C6-BD80BDA1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0266B-A799-4092-BE62-695FCA83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MARKET TIMING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E16B15-70A9-45E2-BDA5-A8FD6637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India has a strong wedge for low-cost SOC automation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384D6-61D0-4183-91B7-F115E5E2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Compliance, data protection, ISO 27001 adoption, and cloud growth are pushing smaller organizations toward central logging and monitoring.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C04BF-FDE5-4CE9-8630-31A46AAB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F896A-E3DA-463C-BCB8-8D56ED71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526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DPDP Act increases attention on data handling and breach readiness.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461A9-5EF6-402E-A48A-FAAB6B8D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76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E80CD-C106-4F99-8C0F-07719178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ISO/IEC 27001 programs require monitoring, logging, incident evidence, and audit trails.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651D7-5E32-4719-A8CC-133C5DA6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C3525-CF56-43E3-88B7-5A7B6027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SMEs and fintech/startups need SOC maturity without enterprise license cost.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92FFEF-C3AE-4209-9F5C-7972314B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B7636-3DBB-40F9-87B2-5B23CEA2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Self-hosted Wazuh + local LLM keeps sensitive logs under customer control.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2D80E-D53D-4C92-8AFD-F62CE90A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19250"/>
            <a:ext cx="3905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8596C-5F92-461C-9C5C-2DF843BF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52625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Primary ICP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8139D8-5ED1-43B2-BF5B-BC3A0ECD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43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80A295-4A2B-4E45-8E04-140BD892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765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SMEs/MSMEs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7FAC9-9FA4-4E58-8730-7BDCB7EC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902C4B-F8BF-430F-B588-41873D10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Startups and SaaS teams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2FA76-A2DB-4F39-AB3D-B585AB1A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62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F2F6D-B7DD-46E7-89ED-AC0F79A9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956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Co-operative banks and NBFC labs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BA1FF-72E9-4347-AC6A-D79F8125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71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67CE96-7B61-409A-AD3B-3028809D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0522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MSSPs serving cost-sensitive clients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387E18-44DB-4942-8E0E-7FDE5EBE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81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2FBF6B-8E40-4945-ACB0-CF58CD71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148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ISO 27001 readiness teams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4CF2DE-8013-43AA-A812-41930DB0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E1CEAD-3BC5-415D-9D67-FD1EF64A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7179224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273AA7-C6DA-45D4-B9E4-DC66A1A3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D8E92-E953-4F36-83ED-B8BBBB41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WHAT WE BUILT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03241A-2298-4F84-B8FA-0AA661CF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working NetraShield MVP, not only a concept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5E264C-6858-4B9C-8249-115FF292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current repo contains backend, UI, Wazuh/OpenSearch connector path, triage, threat intel controls, case management, n8n workflow, docs, and demo assets.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7D420-8A31-4EA8-9CD2-61CC438E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5FBF2-F57A-433F-A5D0-099303DE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2B8B5-0CFB-4EFB-BF0A-6C5B7C40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47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 + RBAC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9DF5F-1816-457E-A93D-829BC0A2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Admin, analyst, viewer roles with audit trail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3CBE8-0876-465D-A198-98E17D79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76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A1209F-9F7B-4D06-AA1C-0391674F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76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673306-C476-495C-A215-986D903F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47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Connectors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827CE-E496-4C6F-826C-16ABF0DC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71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Wazuh API and OpenSearch health/fetch path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D6303-6FA4-4193-B84F-410A4146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76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039AE5-64E0-4577-8363-888A8C1A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76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584FDC-C7F1-4719-8EBB-B8E728F4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47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AI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421A89-6F8F-4E9B-B9F6-253622FE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71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Noise score, signal score, verdict, evidence, actions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6A2084-D4A0-43CE-A9A0-27C99ECD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E7566E-3AF6-4402-AB28-D6E07C37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94A374-0D03-41AD-AB73-65F6963C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Threat Intel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A8370-D91A-451B-BB24-AD5CC21E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VirusTotal, AbuseIPDB, OTX, MISP, local IOC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AF6E6E-C63F-47ED-AF19-ABC1A099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00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68310-B81E-46D7-B7D4-3D9C7305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00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60A20-71E3-4A59-A3A0-68A2E5A8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Cases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EA12AF-F45A-4871-969C-659327C2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Jira-style lifecycle, SLA, owner, resolution history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C8737E-E0F7-4CC6-9938-0245E1DF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004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DA4A31-09A0-4300-AA98-2F3B3DE3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00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 w="0">
            <a:solidFill>
              <a:srgbClr val="D94A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532375-23C7-4DE9-9146-48AFAB47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718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SOAR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9C5806-2F6D-4517-BAF5-C606F247E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957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n8n webhook and approval-gated high-impact actions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E1BED0-8FAF-4D88-8845-5AD6305C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50BAB1-72A3-4DF6-A1BB-226EC217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4397370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782C2E-8020-4C9E-86FC-548D17AE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7941F-0F35-4641-B72A-5717E259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27E7E-34D8-4EDC-A899-D48CA2B6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Wazuh-first today, SIEM-agnostic by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875E5-4F1A-4796-9674-9DA167A8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Connectors normalize alerts into a common schema before AI, enrichment, cases, and SOAR.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C06EA-9A6C-4161-AB5F-0ED6029A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33A"/>
          </a:solidFill>
          <a:ln xmlns:a="http://schemas.openxmlformats.org/drawingml/2006/main" w="0">
            <a:solidFill>
              <a:srgbClr val="1323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99E8D6-A3FC-4462-98F8-9484D0F5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Wazuh / OpenSearch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1DE88B-1E3A-449B-8BB4-D2CBEB15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55AC3-CDA2-4FDA-B370-402ADEA7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CC7F2-D14A-4F0D-B550-527475D0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Connector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934EF-49D2-4944-9593-B206AF6A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DD39E-2253-4285-A82C-791CD784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66893F-7270-4ACD-BD6A-CB0E761F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Normalized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77156C-C48F-43F0-822C-F1859362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A97D4-034A-4B6A-8053-AF1BCFF1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E881E-22F7-44FC-8FC5-F34C9703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Noise Engine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3C94C-2407-4A9E-A499-CE5E3F37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6C351-9866-4044-BD15-36653B68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7BF47A-4B44-4598-8B44-A6778A3C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/ Ollama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475CB9-2C2F-4093-83C7-2C848959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B2BD52-7CB6-4AE6-9A47-EAB51162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5BC45A-3D2F-491A-8B32-DED42212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505B0-8CDE-48BC-88AC-EFEEDB57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8130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636B2A-D6C2-4E22-A105-BFBEAD4C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76500"/>
            <a:ext cx="1190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 w="0">
            <a:solidFill>
              <a:srgbClr val="D94A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6FA105-0DAE-4820-9981-811F3728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90800"/>
            <a:ext cx="1000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n8n SOAR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1CBCEC-FDE2-4BA4-915C-B3992D2C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093975-AAEB-4A27-B816-3BB1208F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4B1E0A-A6B1-48CE-AB1E-F14EE79F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48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Replaceable SIEM layer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B06FF7-C1DF-422E-BD2E-4D092661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72000"/>
            <a:ext cx="2686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Add Splunk, Sentinel, Elastic, QRadar, or EDR connectors without rewriting triage logic.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81ADEB-4C47-43EB-992A-4F55C671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2D95BD-0394-4582-8130-C08631D1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767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4D6A9F-F9BF-44B8-AEB3-F57A72F3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248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Cost control layer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A7D42E-7815-4775-8576-7AD3BDD8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572000"/>
            <a:ext cx="2686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Compact JSON, severity threshold, duplicate cache, local LLM fallback, stronger models only when justified.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8F2C07-8FD6-4FD2-B2D2-4EAA8BFA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7948D-3CBF-4D3B-B616-14AC0A89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4CC74C-75A7-48F7-80C9-35225C94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48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SOC workflow layer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A102D6-C1FA-4E0F-B61A-6836E3CF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72000"/>
            <a:ext cx="2686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Every verdict can become a case, approval request, SOAR run, and audit log.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2AA28D-E18D-4CF1-89C8-85D57215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4B1C43E-194F-4431-9923-B1EB749A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401697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053092-BC20-4269-8EEE-E91E99B0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48A6B-97E2-44DE-877B-9D0036E2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CORE DIFFERENTIATOR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53B8B2-6292-4A21-8DAC-8E00143F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Noise reduction is a pipeline, not one model call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8423D-1D97-46E0-9DA7-18C32CF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MVP reduces analyst load before using expensive AI and records why each alert was suppressed, grouped, escalated, or reviewed.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1C449-B8ED-45A6-B910-E9B69DFC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0E065-D4BD-4317-9BE7-53120672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A45FC-A414-46FA-AC0E-7BBFF274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1. Normalize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96D11D-6A1E-4594-8649-EFAF694D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Rule, asset, user, MITRE, network, raw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26FFD-2B9C-44E4-8687-57BB59F5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E14D-C995-4133-BECD-3FE412D8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A2BAC3-5A29-4E92-BF8B-3D04FFFD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2. Deduplicate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4E736-84CE-4404-A7B2-557D6683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Correlation key and repeat grouping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22C1B-C388-490C-845B-E8A17E2C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102A54-FD74-49C6-8F64-FC1F1C49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4AACA1-21C0-482C-9915-5B72A873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3. Score Signal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DCE9AE-2226-4DE3-95CB-188B6294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Severity, entity history, IOC, MITRE, source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1B83C6-7287-4D72-8E6B-4B87670B6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298E52-2561-463C-95CB-80CF0BB4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4D9AA2-0739-4A1F-AB3C-064BCCA8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4. Cheap AI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4BC860-A772-440F-B0B3-DF9D4391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Only compact context, JSON-only answer, cache repeats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4BB7AC-AF56-49DC-8967-63BAFCB0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809750"/>
            <a:ext cx="1924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3E6222-EE3B-41FB-BB6D-5F32D9B3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8D8958-BDE1-4199-BEE9-5442DEB8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981200"/>
            <a:ext cx="1562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5. Case Route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559414-3282-4777-ACD6-DC49A6CE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05050"/>
            <a:ext cx="1562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Suppress, review, escalate, create case, trigger SOAR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016FAF-00E0-488F-ADC0-1DAD239A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6DCFA-1E58-441D-88E0-45FD73CC5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06299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 w="0">
            <a:solidFill>
              <a:srgbClr val="D94A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C7E686-B041-48AA-8B1D-E0DC9E8F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0055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Raw alert noise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5BA7E0-3E52-4C80-8D75-5C16EC95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0125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A2D919-88BE-4D7A-BD08-AC51C3A8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0125"/>
            <a:ext cx="3248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A6A88B-487B-41F3-93D6-38D6CFE9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8155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Grouped / low priority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9A7D67-BD2C-4140-AFC9-B6BC05C0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91125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122699-84D9-410C-9664-9FC57C3D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91125"/>
            <a:ext cx="460629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A1BAF5-4BFD-48B2-A2B5-6754B499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6255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Target queue reduction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0E862E-F69A-444A-8793-8AC3392B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43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Target MVP outcome: 70-80% fewer L1 items for repetitive categories after analyst validation and tuning.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A0FEDA-11CE-4DA5-B9D1-9ED07444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DD117B-4271-4B39-8343-13C76F52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540562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6844FB-819B-420B-B2E0-87DE0603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2D2D2-B00F-4830-9124-C961D52F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LIVE DEMO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EC9F0-F2B3-486B-82D3-4D9F36E2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Show the tool working in 6 minutes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8146-A295-45D9-9803-1A7ABAF7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Use the same server: Wazuh + n8n + NetraShield. Keep the story on alert clarity and analyst time saved.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672A0-1152-4E7B-B87D-AF4B67CC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04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0F1E9-4735-44B8-86E0-8D5C06B8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383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Login as admin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7EB48-07C5-47F3-9FF9-14CD409C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05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3F3F2-526B-41F2-A2AF-A544625E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Check Wazuh + OpenSearch health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79CB80-5489-4CBD-8FC1-6130242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05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C7CCAE-F604-4C79-9D43-6E8412D4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Fetch live Wazuh alerts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F0F0B7-A28C-4429-BD96-0A6933EC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051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DA418-12E3-470B-9824-9FBC2FA5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384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Run sync with triage=true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F7F1F1-10BA-4139-910B-584F1904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05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761E57-7AAE-45BB-BA9B-3F5AB2A1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Open triage detail: evidence, confidence, suppression reason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4A5AC-87A4-4F23-A29D-54222137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05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D5530-1619-4FF3-B006-53A4974E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Run threat intel enrichment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D4EF6-3E68-4CF1-A810-AD0107CB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7522C9-198C-4FCA-A3A4-D627EB5C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Raise case and assign owner/SLA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92A04E-A8C2-4FAA-AF52-A4B165B7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05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69DE01-4D21-4F43-AB8A-B14D84A9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Trigger n8n dry-run SOAR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3DE474-0CBA-4618-BD2D-03C47848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05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567650-86F7-47D6-8F8A-745F070E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38700"/>
            <a:ext cx="533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Show executive dashboard metrics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042551-2405-4E30-9941-D87C9232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D1E100-5FDF-4C24-A877-186FC66C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EF"/>
          </a:solidFill>
          <a:ln xmlns:a="http://schemas.openxmlformats.org/drawingml/2006/main" w="0">
            <a:solidFill>
              <a:srgbClr val="E5F7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B754D5-F02B-4193-850A-D7975F88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1485900" cy="1485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2C8487-BD2A-4BFD-8F42-85C8337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38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70-80%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75EAC8-FD72-4C95-A974-2DB836CC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target queue reduction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3CCC6-3BA4-4244-BABD-A3680A46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625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Make clear this is category-dependent and improves with feedback.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8A0257-AB16-49FB-A702-148F90D2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385F25-2810-4A49-B1C8-8092B896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6932438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F54DE1-6060-4476-B030-1C29DE8E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29403-DB1A-493B-8C81-145BF6E6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COST ADVANTAGE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80D41-537C-4166-879F-01ABD979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Use AI only where it changes analyst outcome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1CB94-267D-488F-99A5-AA33AEE4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product is designed around token discipline: local model first for bulk triage, cloud mini model for structured reasoning, cache repeated alerts.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41ADC-BFFB-4338-882A-F8C57ACB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5BC48-8498-4DDA-9DEE-A6234EA6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Local first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6CAC8-3AE0-49F2-82EC-677EB748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Ollama/Mistral for private bulk triage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7613D9-1881-4DF6-80DB-66C753AD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573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1BE74-DD3B-4B3C-9CC8-8C6958CF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192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Tiny prompts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3C35F-8776-4C9E-8105-63E7D2DB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98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Normalized fields, no full raw log dumps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6D155D-88FA-4615-9C0B-CC9C2B74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573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D841A3-5AA1-4B52-A874-2F91CBCC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192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Cache hits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70B279-0802-4A88-A7EB-FC6C114A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Repeated alerts avoid repeated model calls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237B9-48B7-41A4-8E14-E2CD9560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381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5CB24-9BCF-4561-8025-23607597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819275"/>
            <a:ext cx="2038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Escalate 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8A641-098C-43B4-869F-5A9E2327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098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Stronger model for demo-critical/high-risk summaries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1A8F6C-08F1-441B-AB9F-F29391C9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8953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CE3AE1-BA13-49E1-9390-62BBF2CC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862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Example economics for SMB SOC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882A13-93FB-4E08-8777-FD846DDB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05300"/>
            <a:ext cx="819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If 100k monthly alerts become 20k compact triage calls after deterministic filters and cache, cloud AI usage can stay in a small operating budget while local LLM handles the long tail.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1D767A-BBC9-4E78-818B-6857EB7D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05375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Pricing source: OpenAI API pricing page for small model/token-cost planning.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BE1135-384B-461D-9178-39C95F8D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B1135B-BCD5-4D07-B480-CEA55826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1647945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CA4A3D-DA71-476C-9684-CDA715A8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8EE76-812B-4568-89AA-E06995DC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PRIVACY AND COMPLIANCE WEDGE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70E8E-BA64-43EC-86C3-BFC7720F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Security monitoring without exporting everything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18A8C-A2C9-4CD6-B3F7-D6C20B54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NetraShield is positioned for organizations that need evidence, monitoring, and privacy-aware workflows at startup-friendly cost.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DFFA07-10EA-44BC-8E8B-1E66128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4DB77-5CD9-454F-B332-1385B5E8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F4EAE-3249-4453-B380-5A970417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2781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DPDP-ready thinking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CA3BB-8078-4EAC-B2C3-5B1B366E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2781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Minimize external data sharing; send only public IOCs/hashes to threat intel and compact alert context to LLMs.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11473-2CD1-4E1F-BBCA-1F0F1CB7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764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86F4DA-D4CD-4350-9C2C-55475FF2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764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84422-863F-4EF0-9DF1-B3CC97A0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1847850"/>
            <a:ext cx="2781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ISO 27001 fit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8FFFC-D698-4170-B866-115E77AB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171700"/>
            <a:ext cx="2781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Centralized logging, monitoring activity evidence, incident history, access control, and audit logs.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E8B821-3935-4374-AF5B-0A5AA966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C23E4D-0E63-4211-9308-8AB0D036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27A56F-BE17-4DF7-903B-A6F8E753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47850"/>
            <a:ext cx="2781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Self-hostable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B4BB2A-0C4E-4D18-99C5-A0343A77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71700"/>
            <a:ext cx="2781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Run Wazuh, NetraShield, n8n, SQLite/Postgres, and Ollama on controlled infrastructure.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C13CD3-A5E8-48E5-8073-03862EFA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00500"/>
            <a:ext cx="933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F9D7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FBD778-7CA1-48E5-9C43-9037EC2A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67200"/>
            <a:ext cx="876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Compliance story for judges: not “replace compliance tooling”, but make SIEM monitoring and incident evidence affordable for smaller Indian businesses.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FFEB57-F25C-47F8-B21D-C5B69468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402865-1A8B-4843-88BF-6F84D058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835041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0793A7-EA9E-4346-BF6C-053B8348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ADB4D-974E-4572-9E23-4C1602B0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COMMERCIAL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EF2C4-15E6-46C5-AADD-B30DBF0E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Low-cost security operations layer for the underserved market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10A9F-25F0-48E1-9D02-26B1D133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Start with Wazuh users, then expand to SIEM-agnostic connectors and MSSP multi-tenant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50A514-9BF6-44E8-A41B-8188A2E7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4B7D84-697E-4D45-BD3B-A14BC44A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86215C-E1A4-4546-BC8C-F46B2B18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Community / Lab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459591-FE74-4582-B623-9953B744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907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Self-hosted, Wazuh connector, offline triage, local IOC, basic n8n workflows.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55FCF3-66BF-4211-8318-C42DDDF9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6954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373B2-41A4-40BE-91AB-0A4633D7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69545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45FBA-7777-4DA4-90B6-489FAFE8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86690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SME Pro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4690D-E65E-4A98-8C6F-86814247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907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Cloud mini model, threat intel, case SLA, dashboards, compliance reports,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D1616-3911-4B86-8903-601F48E9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2476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89AD54-693A-41B0-BDA0-061047C5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35594C-6E8A-46C9-A81C-740F220C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66900"/>
            <a:ext cx="211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MSSP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B952E3-56B1-454D-B1D0-D6C4E835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90750"/>
            <a:ext cx="2114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Multi-tenant cases, customer workspaces, SIEM connector pack, playbook library.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B1583D-2E71-42BF-B903-ACDEF48C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69545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7BD58-3D1B-427B-8F0E-6CB5775C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695450"/>
            <a:ext cx="571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1A2BC2-EEFE-4FAB-B5F9-B2C61E74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86690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Enterprise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DF2AAB-5C07-4AB8-BB00-EFA2581F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90750"/>
            <a:ext cx="16383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Postgres, SSO, HA, custom connectors, approval governance.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531BE2-F79A-4955-AE2D-8A623445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43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A9F9F-B1D3-490D-8BA0-1B4CF843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Pricing thesis: software license + customer-owned infrastructure + pay-as-you-go AI token usage.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E2C9D2-76F7-4E3F-85B2-E2D77D42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43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A637A7-8006-49DE-A7D2-51A72BD3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768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Value metric: analyst queue reduction, time-to-triage, and avoided enterprise SOAR/SIEM AI premium.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BAF2D5-3530-4849-BAA5-C24D4797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43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0AEE17-8CB2-455B-B908-8F087FAA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7685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Pilot target: one Wazuh lab, one SME/startup SOC, one MSSP analyst workflow.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555153-65AD-4413-B851-B6E490C0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D2E09F-5DFB-422D-99B3-1782ED97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882994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E2194-30B0-4875-9FDA-53E094FF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A543B-F67F-4089-9DD6-2412A0B9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PRODUCT LIFELINE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F77A9-EB15-4B74-BEBD-F95662D6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From 7-day MVP to pilot-ready 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390BE-60BD-4A16-B7D9-3EEA0F51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MVP proves the core loop; next work hardens deployment, governance, SIEM coverage, and measurable accuracy.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858C8-97DF-4DD5-BBF7-5522939A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0252C-FE53-4399-92D8-03DB99AB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4043A-A707-45DD-A050-8C3E29C6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812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68B1D-DB9A-48D3-B362-B0E6E7BC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05050"/>
            <a:ext cx="19240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Clone, connect Wazuh, fetch alerts, triage, enrich, case, n8n dry-run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F6EAD3-3EB4-48F4-AB94-B2DC0804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09750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7E04E-9A1D-4440-90BF-9D511265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09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782671-2D68-4129-9FD4-3C608E2C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9812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FA30C-54AD-43F4-8C8A-B6CFBD4A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05050"/>
            <a:ext cx="19240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Postgres, HTTPS, Docker Compose, stronger RBAC, report exports, local model tuning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4D4111-7A3A-45ED-BD05-C719DB26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E6F30D-30CE-4C01-9DA6-D5AB956E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D0D612-48DE-4204-B852-90F9E675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812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90 days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5B063D-E51E-4D24-806A-A9426D60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05050"/>
            <a:ext cx="19240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Splunk/Sentinel/Elastic connectors, multi-tenant MSSP, playbook marketplace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F0968B-DC19-41EF-85D2-B568092A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9750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C0D808-8DEA-4579-9A0F-CC042E0D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9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752F14-C2FE-40CB-8038-B2078E5A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1924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6 months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D7AC6F-9EC0-474E-9E4D-48158F32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05050"/>
            <a:ext cx="19240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Closed-loop learning, customer-specific baselines, compliance evidence packs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118BC4-767A-444F-A40A-6C1162AE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981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moat is not only UI. It is SOC-specific signal scoring, feedback memory, privacy-first enrichment, and operational workflow evidence.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C373A5-AD76-40BF-94C7-B9B4252E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A642BE-7597-42AA-A2C5-EEF746E8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632183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5BE5D3-E2E0-4ECD-AD68-C36DD210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A69FA-F96C-4229-82BE-1C40BD93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JUDGE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1A144-6FA5-4644-9796-6623E3A5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Validate the pain, then pilot the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0536D-8932-4BB6-8457-D5641A25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strongest next step is a short pilot with real alert categories and analyst feedback.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D7733-E0B7-44ED-A929-8F448A35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8DA90C-6911-4138-8D3B-F1696911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76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Pilot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7CB982-04EE-4B53-B08A-4698998F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1-2 weeks of Wazuh alert categories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42B16-6F95-49DA-A09D-5BA7D991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145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AFDFDA-CD6A-490F-9859-769BFE7C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876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Success metric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475AA9-8A08-4912-997E-86684692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669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70%+ queue reduction on repetitive noise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301EF-E1A4-4B4F-8A58-FF5D1F4D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145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61B23-EAC1-4B53-8B28-BB5BFC1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76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Human gate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0D0BA3-C208-4EC5-B691-AFB18FF7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Analyst validates suppression and escalation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4D5F0-CCE5-4D36-B86F-47DF301A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39BCD-BED8-4211-9A3F-C50D3F19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876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F52D7B-A8E1-4734-A88A-A53D6496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669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Lower L1 workload and clearer L2 cases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08F756-B884-48C0-9FAC-BB677BA4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14750"/>
            <a:ext cx="9620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0BAAFD-8DA9-4A13-917E-C90ACF4C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1475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89F4C8-9290-45E0-805E-86A60134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886200"/>
            <a:ext cx="925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Final pitch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5D897D-7CE8-4CAB-8D4C-640BC739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210050"/>
            <a:ext cx="925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NetraShield makes open-source SIEM more usable for cost-sensitive teams by turning noisy alerts into explainable, auditable, action-ready cases with low AI spend.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7154D1-15E1-45AC-A03D-DB8FBD0A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5A12B4-C326-4FC6-AB46-F813DA4A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7972101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99F6A4-4A29-442E-88DF-6B1899A4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FD00EA-EC7B-4789-838C-8937EAD1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SOURCES AND DEMO ASSETS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2D0C2F-62D6-47BA-8BA3-C3FEF21B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Evidence base used for the judge 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433A3-CBEB-43F2-868B-9ADBB2F0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192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All repo code and docs are pushed to GitHub; external references are used only for market/compliance/context framing.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84E61-A765-4DE0-B46F-27E5A69C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335A4-3978-464A-9511-34622644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145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GitHub: https://github.com/cybermukesh/ai-soc-soar-mvp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4CAD59-EDB3-4B4A-91BF-49632ACA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383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B81A2-C1EE-4BBF-B435-E8A75572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717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Wazuh docs: https://documentation.wazuh.com/current/getting-started/index.html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E7E56-E11C-4286-9901-820C060D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5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4ED1D2-2114-4106-80B4-1102BEB6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289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n8n Docker docs: https://docs.n8n.io/hosting/installation/docker/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675BB-75AD-4125-BB51-AC1D5255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52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3ABB06-159A-41F2-80D0-C7F79CF1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861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OpenAI API pricing: https://platform.openai.com/docs/pricing/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F0F812-7188-4AAF-A5A6-44F324D1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9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D7B4A4-E8C4-4402-BA63-66B5A2B9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433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India Code DPDP Act: https://www.indiacode.nic.in/indiacode/handle/123456789/22037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640C4-BBFE-451A-B77F-AF82574F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7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AAEF8-F189-4B66-9D9C-85042386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00500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ISO/IEC 27001 overview: https://www.iso.org/standard/27001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371760-95F5-480C-A2D3-E1A18FA5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FA133E-7B98-4FB7-A653-D5DC16F2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8231306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537A22-27A9-4122-BBCB-333F07F3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EF795-0F40-4344-9E52-50AF351C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CORE BRAIN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258C6F-E595-4C31-8B8D-A185CE5B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8858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Adaptive tuning engine that gets more reliable with more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28874-D51C-4357-BF20-5D6D1A32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838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This is not risky model fine-tuning in the MVP. It is a closed-loop SOC tuning memory that learns from alert history, analyst feedback, grouping outcomes, and cache performance.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807D6-4C24-4A93-B37F-F433E94D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952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D9C27-99C0-49DE-8E8F-2BF89BEE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8B0505-26C7-42C5-90A8-94B9CDE6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1609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1. Normalized Alert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D2E8E-9F69-434B-B622-60C94AB4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609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Rule, severity, asset, user, source IP, MITRE, raw evidence summary, and timestamp become a stable SIEM-agnostic object.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48ED9-E708-444C-AB94-65AF4E09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66950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15683E-356F-42A0-9394-3D99B255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90750"/>
            <a:ext cx="1714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8CB89-A57B-4322-BAA8-3704C592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95450"/>
            <a:ext cx="1952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B80FD-F3C5-4A46-A0CE-B710D2E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954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8B484-1C18-4664-B4DF-6BE3FA6E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885950"/>
            <a:ext cx="1609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2. Feature 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16D035-EA7B-42EB-9A34-455EBE83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209800"/>
            <a:ext cx="1609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Entity frequency, asset criticality, rule history, repeated source patterns, local IOC hits, and previous verdicts.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FD96D6-87B5-48CD-8441-B015C4D6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66950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4F1651-3310-44DD-8328-54576A99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90750"/>
            <a:ext cx="1714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E935F-D5B5-4431-B1B8-C31A5A5A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95450"/>
            <a:ext cx="1952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032418-21A5-4063-AF24-70C1497C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954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BCC8B9-9CF3-40D5-AE0B-E3B432D6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1609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3. Grouping Brain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CF986-8C69-4502-A80A-D6FF79DA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09800"/>
            <a:ext cx="16097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Correlation key joins same-kind alerts by rule, host, user, source, MITRE, and time window.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2EAB9-F4F6-4F3A-BDEB-D34136F0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66950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73303-BD8F-4288-97AA-DDCD659C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90750"/>
            <a:ext cx="1714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C4D6"/>
          </a:solidFill>
          <a:ln xmlns:a="http://schemas.openxmlformats.org/drawingml/2006/main" w="0">
            <a:solidFill>
              <a:srgbClr val="B8C4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8BF74D-6FD7-40CA-ADE8-2A2C9A17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95450"/>
            <a:ext cx="2476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789615-F5F1-41F5-A92C-6F8A5D4E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95450"/>
            <a:ext cx="2476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D732F6-5470-42AC-970D-8158C53E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859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4. AI Router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57B023-0FBE-4A82-98F9-D828523B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09800"/>
            <a:ext cx="2133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Offline heuristic or Ollama for bulk triage; cloud mini model only for useful structured reasoning; stronger model only for high ambiguity.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322030-3385-404D-AE6A-517B90A8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76650"/>
            <a:ext cx="37528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634DF6-6944-4A71-A525-059B685B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Analyst Feedback Loop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A49C34-85BD-420A-BF90-84264B86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434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3C6401-2816-46A1-99A7-C675ABBA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305300"/>
            <a:ext cx="4095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True positive / false positive / benign admin activity labels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5B49DF-FEC3-4DE1-9E9F-371DE875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6B5876-8603-4D00-85F7-65E9243E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629150"/>
            <a:ext cx="4095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Suppression approval, resolution reason, and case outcome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FF17B2-7803-49CC-B0C9-0AAF4EC6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9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08D7EA-6519-4271-B853-F884A90C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53000"/>
            <a:ext cx="4095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Promotes repeatable decisions into tuning memory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6B80FD-A81E-4626-BB52-479F1F28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676650"/>
            <a:ext cx="2762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F3D38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9E8C23-6854-432B-8861-F27108E1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9052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Long-Term Reliability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932BF0-B094-4FEC-ABD3-2F04EE28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05300"/>
            <a:ext cx="2266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More alerts produce better baselines: duplicate grouping improves, token calls fall, suppression gets safer, and L2 receives richer evidence.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2E8EEA-A880-45F2-9892-036E6349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76650"/>
            <a:ext cx="2476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F"/>
          </a:solidFill>
          <a:ln xmlns:a="http://schemas.openxmlformats.org/drawingml/2006/main" w="9525">
            <a:solidFill>
              <a:srgbClr val="BDEDD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E38D9F-A17B-4246-9A31-8BBFADD3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9052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Future Upgrade Path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240761-A58E-43B5-9909-923F6D23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053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26172"/>
                </a:solidFill>
                <a:latin typeface="Aptos"/>
                <a:ea typeface="Aptos"/>
                <a:cs typeface="Aptos"/>
              </a:rPr>
              <a:t>After enough validated labels, train customer-specific classifiers or prompt exemplars without sending raw sensitive logs outside.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F1C852-BABA-419A-8C8B-14FF32F4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42925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B172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13AD78-D845-4C39-AAD6-2B6B577B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600700"/>
            <a:ext cx="752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Core brain outcome: fewer repeated alerts, more reliable AI triage, explainable grouping, and lower long-term token cost.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7DE201-DBB3-47CF-81A4-A8AF87CD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533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May 2026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DC0CD4-A748-4642-A8D8-8869021D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7794459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9EAE41-F2FE-470A-9825-22CC5C8F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F04369-902F-42D4-8140-9FAF7AB7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REAL PAIN FIGURES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887510-E693-423E-B8CB-1AF1A894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alert problem is measurable, not theoretical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766CF-AB48-485D-AD2E-74AC2ADE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These public figures make the judge story more grounded: NetraShield attacks alert volume, false positives, investigation cost, and token spend together.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0B349-B5CD-4A8E-80EF-25A35D86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2571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EA7E1D-1F4E-4A12-A439-0741AA01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289B63-AE72-4D93-A13C-EE3BB3C2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11k/day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2615B-1C23-49DF-A33A-68C6A5B6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Average SOC alert volume reported in industry summaries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FFD4D9-31CC-404B-958C-752E3869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SecurityToday citing Ponemon / Forrester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8CD60-18A9-4C0A-97C4-C45B5E1D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95450"/>
            <a:ext cx="2571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8B812-4D7C-4602-982D-4300DD60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9545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 w="0">
            <a:solidFill>
              <a:srgbClr val="D94A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8C28E-4008-4A99-8E5C-C2307A15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924050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94A4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94A4A"/>
                </a:solidFill>
                <a:latin typeface="Aptos"/>
                <a:ea typeface="Aptos"/>
                <a:cs typeface="Aptos"/>
              </a:rPr>
              <a:t>44%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38A25C-763F-4E0D-BF7F-5078D821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193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False-positive share in the 11k/day alert-flood example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CDB728-6263-4678-83F4-FDA951F9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956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SecurityToday citing Ponemon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3F8042-85B7-4BA4-9F6B-A2ACC086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95450"/>
            <a:ext cx="2571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ED0669-055F-42D2-88EB-3D9E66C0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9545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A244C-1B15-4DC8-9C15-61EB3011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24050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40-60%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FB1DD2-828F-4E04-AB1B-A3A89C18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193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Common industry range for false-positive alert 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7C4AA4-771F-4EAB-9A1A-F26A03A4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956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SenseOn alert-fatigue metrics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3BC111-2953-45D9-A445-590FAB7F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95450"/>
            <a:ext cx="2571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E56535-A077-417E-8E00-D9896503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95450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DD3"/>
          </a:solidFill>
          <a:ln xmlns:a="http://schemas.openxmlformats.org/drawingml/2006/main" w="0">
            <a:solidFill>
              <a:srgbClr val="6B5DD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06E93E-FA4E-4D30-AD45-CC40D8EE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924050"/>
            <a:ext cx="2228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B5DD3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6B5DD3"/>
                </a:solidFill>
                <a:latin typeface="Aptos"/>
                <a:ea typeface="Aptos"/>
                <a:cs typeface="Aptos"/>
              </a:rPr>
              <a:t>INR 195M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BD38B4-F1E8-4292-BAFF-920B7198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193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Average India breach cost reached an all-time high in 2024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C6FBA0-FE49-4A93-9785-0E0B9810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956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IBM Cost of a Data Breach India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D9A0CE-B7A8-47A4-8745-BFB39E2D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4572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20ECAE-2E5B-464E-A952-B04ED065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9575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this matters for SMEs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F0E593-D301-4FFF-B427-D14CDD2A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148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Small teams cannot hire enough analysts to manually review thousands of alerts, and enterprise SOAR/AI layers are often priced above their budget.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E4C940-E9C0-478D-91A7-A8311C9E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4572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3EB98D-628D-4B35-8533-5BDD6582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NetraShield changes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C09D54-F37D-4B55-9621-BFE9F9D4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148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Normalize, group, score, enrich, cache, then call AI only where it improves analyst decisions. Fewer raw alerts become better cases.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4AFD21-C876-4120-854B-00F7A8A8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Public-source figures, MVP target clearly marked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5F95E8-12A1-4D46-948C-BC702CF0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15100"/>
            <a:ext cx="428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5145489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712156-A447-412D-BE4F-3992C273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D3C6D2-31B0-4A0C-9A49-99F3ED39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IMPACT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9B65B-ADF2-4E4D-80CA-28AE8F6E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How the MVP creates visible difference in a judge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D8EC9-EFC1-4BB8-B851-85997E6B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Use this as a transparent model: category-dependent target, validated by analyst feedback, not a claim that every customer gets the same result on day 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4E1F5-95F7-4DAA-96E9-81494A6D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196AD-92E1-4DA9-99A0-2F511555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Example monthly alert queue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AE76A-AB29-41AF-B21C-0EEE2613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Raw Wazuh alerts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C6F26-98D0-4756-B9D1-802A1CF5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622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7E0F1E-1DF3-451B-A698-AED58A1D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622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 w="0">
            <a:solidFill>
              <a:srgbClr val="D94A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26B84-A1BD-42D2-A154-81B9E4E1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7813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4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4A4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A98289-6E94-47EC-AD44-E59F6891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After grouping + deterministic filters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70B5A-3539-4A48-9849-C18E2940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610B6-C2BF-4918-B789-92E4C1E2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1571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62C71-2C2F-43BD-A8B4-F5893C47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480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55%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D933D-67C4-47E3-8CDE-A9FA909A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2905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After cache + AI triage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621D6A-F805-42FC-A59F-A4E4B714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957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solidFill>
              <a:srgbClr val="E8EE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A58F61-384A-4083-8D69-C0549EA7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95750"/>
            <a:ext cx="714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462DC4-BA13-478C-9254-E1A0DA06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1148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216D98-D2BD-4784-8254-649E965A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3619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Illustration: 10,000 raw alerts -&gt; ~2,500 analyst items for repetitive categories after tuning.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642AC2-C501-437C-8297-4C041D6F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7640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CA04F-C592-4ED5-A57F-6FFCED97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21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External proof that learning loops work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EF09EB-73DC-41E6-A598-249F0299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AEC1A9-9413-428A-AE9C-28961684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1809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2C3034-8C49-4B66-87B8-02FE09BA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61%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CDA209-5836-4923-AE48-1693C7E2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81350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Alert queue reduction over six months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22EE80-CA5B-4B70-985E-F8BB9B28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576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AACT research on real SOC data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9AA5F1-E60B-41F4-8074-2409342B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8DB0B1-6759-4E96-8928-0EF5270D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1809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44FB43-EC06-4481-9511-B165C6BB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86050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1.36%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5F3EA7-1DB2-45C5-A474-9349F17B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81350"/>
            <a:ext cx="1466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Low false-negative rate reported over millions of alerts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1D02DF-3DAF-4A1F-AFCB-1AADB563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657600"/>
            <a:ext cx="1466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AACT research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CC4141-F000-4149-BF9A-C20864D7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371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172"/>
                </a:solidFill>
                <a:latin typeface="Aptos"/>
                <a:ea typeface="Aptos"/>
                <a:cs typeface="Aptos"/>
              </a:rPr>
              <a:t>NetraShield follows the same principle: learn from analyst triage actions, repeated benign patterns, and case outcomes to reduce future queue load.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23CA33-6FAB-4D59-BFEA-298637FB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619750"/>
            <a:ext cx="8534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F2D48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DC086A-47E2-40F6-A695-E8954784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791200"/>
            <a:ext cx="8153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MVP target: 70-80% queue reduction for repetitive Wazuh alert categories after validation, not universal production guarantee.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335842-7545-4F70-8C33-1DABD975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Public-source figures, MVP target clearly marked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5CD797-990B-41E8-AE56-52AC0ACC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15100"/>
            <a:ext cx="428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2409042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9B2FFA-0957-4C1D-8272-C5C36FF5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96C728-D873-4BBC-8AB5-A69A5044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COST REALITY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81C66-52DE-4ABC-B8DC-1139E119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9334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Low-token architecture is part of the product, not an afterthought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DCCE9-4B31-420A-9FDD-38CA9AA7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The wedge is not “use AI everywhere.” It is use the smallest useful model, local LLM when possible, compact prompts, cache, and stronger models only for high-value cases.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226CB-756D-4D23-89BF-ABF43332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106AA-6066-4EF5-9868-92B3A4C8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8F"/>
          </a:solidFill>
          <a:ln xmlns:a="http://schemas.openxmlformats.org/drawingml/2006/main" w="0">
            <a:solidFill>
              <a:srgbClr val="0E9F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6E559F-B501-49EA-AAAE-15101F7C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38350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E9F8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9F8F"/>
                </a:solidFill>
                <a:latin typeface="Aptos"/>
                <a:ea typeface="Aptos"/>
                <a:cs typeface="Aptos"/>
              </a:rPr>
              <a:t>$0.15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475F7-7613-486A-A622-42D0A475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gpt-4o-mini input per 1M tokens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12A5E-E0DB-4E0E-B509-6E2F1AFF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99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OpenAI API pricing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D808BF-7359-40D4-A335-51167FFD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097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4864F-E09B-4567-A82E-16788129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097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2F6F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FBCF7-2F24-4102-8814-6743D715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038350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F6FED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F6FED"/>
                </a:solidFill>
                <a:latin typeface="Aptos"/>
                <a:ea typeface="Aptos"/>
                <a:cs typeface="Aptos"/>
              </a:rPr>
              <a:t>$0.60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88A42-57FA-42FF-858D-F33EC0E6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5336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gpt-4o-mini output per 1M tokens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DE2089-712C-4CC0-82DC-31AC212D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0099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OpenAI API pricing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6B0F2E-FAAE-4A14-8268-3B23C92B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B673D-BB9E-462C-A114-7DAB5CA0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F88C49-7F7A-41AF-8C63-360CEEFA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38350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2A06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2A06B"/>
                </a:solidFill>
                <a:latin typeface="Aptos"/>
                <a:ea typeface="Aptos"/>
                <a:cs typeface="Aptos"/>
              </a:rPr>
              <a:t>0 tokens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64CBE6-38E5-4A7C-8A1C-1A4066CC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336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Duplicate/cache hit or local deterministic close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C07C25-1CAB-4FD3-995D-7A672AD1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099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NetraShield design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F380B6-C2A6-47B9-BAE7-0FC2DFD9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097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F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3E37D0-A48C-4239-B219-07D024E5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09750"/>
            <a:ext cx="2381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6E2BEB-AEE6-4542-A0B8-9EAC906D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038350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Local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1B13C1-E212-45B6-B0CC-E5075130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5336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Ollama/Mistral for privacy-first bulk triage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B06902-973D-4575-8149-9915C06D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009900"/>
            <a:ext cx="2038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58A"/>
                </a:solidFill>
                <a:latin typeface="Aptos"/>
                <a:ea typeface="Aptos"/>
                <a:cs typeface="Aptos"/>
              </a:rPr>
              <a:t>NetraShield deployment option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07189E-ABCA-4B84-BB10-91C5F3A3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05250"/>
            <a:ext cx="9525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A"/>
          </a:solidFill>
          <a:ln xmlns:a="http://schemas.openxmlformats.org/drawingml/2006/main" w="0">
            <a:solidFill>
              <a:srgbClr val="0B172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FE5CA7-493E-419E-A6C0-4F6977DB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71950"/>
            <a:ext cx="876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Cost thesis: customer-owned Wazuh + NetraShield + n8n + Ollama lowers license cost; cloud token spend becomes controlled variable, not the whole SOC budget.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877386-638D-4107-892E-EE818B29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257800"/>
            <a:ext cx="885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Judge takeaway: the brain improves over time because repeated alerts become memory, analyst labels improve routing, and cache/local model paths reduce recurring cost.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A34368-9238-413A-9023-1F350152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8793A3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8793A3"/>
                </a:solidFill>
                <a:latin typeface="Aptos"/>
                <a:ea typeface="Aptos"/>
                <a:cs typeface="Aptos"/>
              </a:rPr>
              <a:t>NetraShield MVP | Judge Demo | Public-source figures, MVP target clearly marked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BC2EC3-B639-493D-A36B-6C239A58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15100"/>
            <a:ext cx="428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6758A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66758A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883107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2026-05-31T16:57:26.7280000Z</dcterms:created>
  <dcterms:modified xsi:type="dcterms:W3CDTF">2026-05-31T16:57:26.7280000Z</dcterms:modified>
</coreProperties>
</file>