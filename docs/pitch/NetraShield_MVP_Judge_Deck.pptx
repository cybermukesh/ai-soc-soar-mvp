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6c48eac4af490a" /><Relationship Type="http://schemas.openxmlformats.org/officeDocument/2006/relationships/extended-properties" Target="/docProps/app.xml" Id="Rbb0141d948584b26" /><Relationship Type="http://schemas.openxmlformats.org/officeDocument/2006/relationships/officeDocument" Target="/ppt/presentation.xml" Id="R948d8c64af5d47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9eab7ba0a9462b"/>
  </p:sldMasterIdLst>
  <p:notesMasterIdLst>
    <p:notesMasterId xmlns:r="http://schemas.openxmlformats.org/officeDocument/2006/relationships" r:id="R8aeb10dd17334e2e"/>
  </p:notesMasterIdLst>
  <p:sldIdLst>
    <p:sldId xmlns:r="http://schemas.openxmlformats.org/officeDocument/2006/relationships" id="256" r:id="R98d0cabb81f84279"/>
    <p:sldId xmlns:r="http://schemas.openxmlformats.org/officeDocument/2006/relationships" id="257" r:id="R8cdb1b32777c4b03"/>
    <p:sldId xmlns:r="http://schemas.openxmlformats.org/officeDocument/2006/relationships" id="258" r:id="R0b87e5e5aa5f405a"/>
    <p:sldId xmlns:r="http://schemas.openxmlformats.org/officeDocument/2006/relationships" id="259" r:id="R37fa89684aab4962"/>
    <p:sldId xmlns:r="http://schemas.openxmlformats.org/officeDocument/2006/relationships" id="260" r:id="Rea0565247b264604"/>
    <p:sldId xmlns:r="http://schemas.openxmlformats.org/officeDocument/2006/relationships" id="261" r:id="R4e4d8cb1401b4e4d"/>
    <p:sldId xmlns:r="http://schemas.openxmlformats.org/officeDocument/2006/relationships" id="262" r:id="R71e96fd5b7604743"/>
    <p:sldId xmlns:r="http://schemas.openxmlformats.org/officeDocument/2006/relationships" id="263" r:id="R1ee32e156f014666"/>
    <p:sldId xmlns:r="http://schemas.openxmlformats.org/officeDocument/2006/relationships" id="264" r:id="R817df6e0bae14807"/>
    <p:sldId xmlns:r="http://schemas.openxmlformats.org/officeDocument/2006/relationships" id="265" r:id="Rcc4dd0d313444056"/>
    <p:sldId xmlns:r="http://schemas.openxmlformats.org/officeDocument/2006/relationships" id="266" r:id="Raabbd9a6fba946e6"/>
    <p:sldId xmlns:r="http://schemas.openxmlformats.org/officeDocument/2006/relationships" id="267" r:id="R3e58a2278c03496f"/>
    <p:sldId xmlns:r="http://schemas.openxmlformats.org/officeDocument/2006/relationships" id="268" r:id="R6d8506318b974a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9eab7ba0a9462b" /><Relationship Type="http://schemas.openxmlformats.org/officeDocument/2006/relationships/theme" Target="/ppt/theme/theme1.xml" Id="R47f15f2e343549e8" /><Relationship Type="http://schemas.openxmlformats.org/officeDocument/2006/relationships/notesMaster" Target="/ppt/notesMasters/notesMaster1.xml" Id="R8aeb10dd17334e2e" /><Relationship Type="http://schemas.openxmlformats.org/officeDocument/2006/relationships/presProps" Target="/ppt/presProps.xml" Id="R7d467060736d4437" /><Relationship Type="http://schemas.openxmlformats.org/officeDocument/2006/relationships/viewProps" Target="/ppt/viewProps.xml" Id="Rcc02af7a675e4e01" /><Relationship Type="http://schemas.openxmlformats.org/officeDocument/2006/relationships/tableStyles" Target="/ppt/tableStyles.xml" Id="Rebf0d8a4b34f4355" /><Relationship Type="http://schemas.openxmlformats.org/officeDocument/2006/relationships/slide" Target="/ppt/slides/slide1.xml" Id="R98d0cabb81f84279" /><Relationship Type="http://schemas.openxmlformats.org/officeDocument/2006/relationships/slide" Target="/ppt/slides/slide2.xml" Id="R8cdb1b32777c4b03" /><Relationship Type="http://schemas.openxmlformats.org/officeDocument/2006/relationships/slide" Target="/ppt/slides/slide3.xml" Id="R0b87e5e5aa5f405a" /><Relationship Type="http://schemas.openxmlformats.org/officeDocument/2006/relationships/slide" Target="/ppt/slides/slide4.xml" Id="R37fa89684aab4962" /><Relationship Type="http://schemas.openxmlformats.org/officeDocument/2006/relationships/slide" Target="/ppt/slides/slide5.xml" Id="Rea0565247b264604" /><Relationship Type="http://schemas.openxmlformats.org/officeDocument/2006/relationships/slide" Target="/ppt/slides/slide6.xml" Id="R4e4d8cb1401b4e4d" /><Relationship Type="http://schemas.openxmlformats.org/officeDocument/2006/relationships/slide" Target="/ppt/slides/slide7.xml" Id="R71e96fd5b7604743" /><Relationship Type="http://schemas.openxmlformats.org/officeDocument/2006/relationships/slide" Target="/ppt/slides/slide8.xml" Id="R1ee32e156f014666" /><Relationship Type="http://schemas.openxmlformats.org/officeDocument/2006/relationships/slide" Target="/ppt/slides/slide9.xml" Id="R817df6e0bae14807" /><Relationship Type="http://schemas.openxmlformats.org/officeDocument/2006/relationships/slide" Target="/ppt/slides/slide10.xml" Id="Rcc4dd0d313444056" /><Relationship Type="http://schemas.openxmlformats.org/officeDocument/2006/relationships/slide" Target="/ppt/slides/slide11.xml" Id="Raabbd9a6fba946e6" /><Relationship Type="http://schemas.openxmlformats.org/officeDocument/2006/relationships/slide" Target="/ppt/slides/slide12.xml" Id="R3e58a2278c03496f" /><Relationship Type="http://schemas.openxmlformats.org/officeDocument/2006/relationships/slide" Target="/ppt/slides/slide13.xml" Id="R6d8506318b974a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bc058554b6f4f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a4092d139b4c16" /><Relationship Type="http://schemas.openxmlformats.org/officeDocument/2006/relationships/notesMaster" Target="/ppt/notesMasters/notesMaster1.xml" Id="Rfd99d80a76b643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22a87769aa41eb" /><Relationship Type="http://schemas.openxmlformats.org/officeDocument/2006/relationships/notesMaster" Target="/ppt/notesMasters/notesMaster1.xml" Id="Rc1b6c70a7e8949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6bca241010a4ff8" /><Relationship Type="http://schemas.openxmlformats.org/officeDocument/2006/relationships/notesMaster" Target="/ppt/notesMasters/notesMaster1.xml" Id="R467f22e91be847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ce458120ab49c1" /><Relationship Type="http://schemas.openxmlformats.org/officeDocument/2006/relationships/notesMaster" Target="/ppt/notesMasters/notesMaster1.xml" Id="Rbd43b0c217d444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9083ba886d469c" /><Relationship Type="http://schemas.openxmlformats.org/officeDocument/2006/relationships/notesMaster" Target="/ppt/notesMasters/notesMaster1.xml" Id="R0c31784f702544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477740f1e54de0" /><Relationship Type="http://schemas.openxmlformats.org/officeDocument/2006/relationships/notesMaster" Target="/ppt/notesMasters/notesMaster1.xml" Id="Rcebf8d46804142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72f5dbf6294b5b" /><Relationship Type="http://schemas.openxmlformats.org/officeDocument/2006/relationships/notesMaster" Target="/ppt/notesMasters/notesMaster1.xml" Id="R8d41475f61d244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ca7e5ee2e84b54" /><Relationship Type="http://schemas.openxmlformats.org/officeDocument/2006/relationships/notesMaster" Target="/ppt/notesMasters/notesMaster1.xml" Id="R3cf569935f4449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612965d0004ade" /><Relationship Type="http://schemas.openxmlformats.org/officeDocument/2006/relationships/notesMaster" Target="/ppt/notesMasters/notesMaster1.xml" Id="R6e87fa3d6717401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a1c8326bc7f4585" /><Relationship Type="http://schemas.openxmlformats.org/officeDocument/2006/relationships/notesMaster" Target="/ppt/notesMasters/notesMaster1.xml" Id="R6ea4cc0244f24d9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8f0f7c64b14aeb" /><Relationship Type="http://schemas.openxmlformats.org/officeDocument/2006/relationships/notesMaster" Target="/ppt/notesMasters/notesMaster1.xml" Id="R95a09e9b293e4e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4ff97ab811b4105" /><Relationship Type="http://schemas.openxmlformats.org/officeDocument/2006/relationships/notesMaster" Target="/ppt/notesMasters/notesMaster1.xml" Id="R75fa364a389c42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ac71aa2aa9243fd" /><Relationship Type="http://schemas.openxmlformats.org/officeDocument/2006/relationships/notesMaster" Target="/ppt/notesMasters/notesMaster1.xml" Id="Rdca5b47f0da941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70ba7d8c09419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c8fb39395ba4ab3" /><Relationship Type="http://schemas.openxmlformats.org/officeDocument/2006/relationships/slideLayout" Target="/ppt/slideLayouts/slideLayout2.xml" Id="R3c237e6f13274a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237e6f13274a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03732c5f33467b" /><Relationship Type="http://schemas.openxmlformats.org/officeDocument/2006/relationships/notesSlide" Target="/ppt/notesSlides/notesSlide1.xml" Id="R76081bdfb3504e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db878180184f2a" /><Relationship Type="http://schemas.openxmlformats.org/officeDocument/2006/relationships/notesSlide" Target="/ppt/notesSlides/notesSlide2.xml" Id="R8f2f50432d5a4d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d4af3fb15245ca" /><Relationship Type="http://schemas.openxmlformats.org/officeDocument/2006/relationships/notesSlide" Target="/ppt/notesSlides/notesSlide3.xml" Id="Ra22073c096ff4a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d6b4743b0954157" /><Relationship Type="http://schemas.openxmlformats.org/officeDocument/2006/relationships/notesSlide" Target="/ppt/notesSlides/notesSlide4.xml" Id="Re7c05f75187740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aa77937f514696" /><Relationship Type="http://schemas.openxmlformats.org/officeDocument/2006/relationships/notesSlide" Target="/ppt/notesSlides/notesSlide5.xml" Id="R0548421744ca48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1024a2d3324276" /><Relationship Type="http://schemas.openxmlformats.org/officeDocument/2006/relationships/notesSlide" Target="/ppt/notesSlides/notesSlide6.xml" Id="Rdf22491a829f4fc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7f431a21bb4919" /><Relationship Type="http://schemas.openxmlformats.org/officeDocument/2006/relationships/notesSlide" Target="/ppt/notesSlides/notesSlide7.xml" Id="Rc42f0d7c2136436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bb3dfde3544938" /><Relationship Type="http://schemas.openxmlformats.org/officeDocument/2006/relationships/notesSlide" Target="/ppt/notesSlides/notesSlide8.xml" Id="R69055f82ee4842e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b713d7caf14fda" /><Relationship Type="http://schemas.openxmlformats.org/officeDocument/2006/relationships/notesSlide" Target="/ppt/notesSlides/notesSlide9.xml" Id="R7f30a608102e451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aa019d50ff4933" /><Relationship Type="http://schemas.openxmlformats.org/officeDocument/2006/relationships/notesSlide" Target="/ppt/notesSlides/notesSlide10.xml" Id="R676acd9e76ae4f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217e8829a44002" /><Relationship Type="http://schemas.openxmlformats.org/officeDocument/2006/relationships/notesSlide" Target="/ppt/notesSlides/notesSlide11.xml" Id="R0226bcf73c4b4b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7b3beedb6746bb" /><Relationship Type="http://schemas.openxmlformats.org/officeDocument/2006/relationships/notesSlide" Target="/ppt/notesSlides/notesSlide12.xml" Id="R80fd1f3adfc6485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5c06fbe7894fa9" /><Relationship Type="http://schemas.openxmlformats.org/officeDocument/2006/relationships/notesSlide" Target="/ppt/notesSlides/notesSlide13.xml" Id="Re1df70988d2b46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C00DFA-F704-4D37-A822-759480AB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84CA6-B5CE-4CCE-ACCD-90C31AAF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67F66-E774-4915-9E75-3FB47040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4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9386C-C8F9-4CB7-8302-74EC57B5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047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B58"/>
          </a:solidFill>
          <a:ln xmlns:a="http://schemas.openxmlformats.org/drawingml/2006/main" w="0">
            <a:solidFill>
              <a:srgbClr val="173B5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5F32E-6F56-44C8-A186-5C255B22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7640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8E9330-A026-4B9A-B3D1-19D0EB0F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NETRASHIELD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EE8580-8A4E-4528-9FA2-E3583F0D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6667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alert clarity layer for Wazuh-first SOC teams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462E2-6FA2-4715-8E3B-6EE39B51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628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4E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9D4E2"/>
                </a:solidFill>
                <a:latin typeface="Aptos"/>
                <a:ea typeface="Aptos"/>
                <a:cs typeface="Aptos"/>
              </a:rPr>
              <a:t>Noise reduction, analyst-ready triage, threat intel enrichment, case lifecycle, and approval-gated SOAR on low-cost infrastructure.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4BF5B-BC21-461E-9A7E-0D33796F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7F3"/>
          </a:solidFill>
          <a:ln xmlns:a="http://schemas.openxmlformats.org/drawingml/2006/main" w="0">
            <a:solidFill>
              <a:srgbClr val="DFF7F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DD6E76-E76E-4351-A56A-CC4EFA6B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0522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Wazuh-first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05934-F0B7-4BE4-943C-7E50B4AA0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385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F"/>
          </a:solidFill>
          <a:ln xmlns:a="http://schemas.openxmlformats.org/drawingml/2006/main" w="0">
            <a:solidFill>
              <a:srgbClr val="E7EE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8FC81-780B-438B-9A5D-6ACD9F65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05225"/>
            <a:ext cx="13906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SIEM-agnostic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094F5C-907E-4A44-B57C-7C419B01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6385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0">
            <a:solidFill>
              <a:srgbClr val="FFF3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9D3295-59CD-4E9B-91DE-6A74453F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0522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Low token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23AD5-D5DC-4511-86EF-2390A63D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6385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7EF"/>
          </a:solidFill>
          <a:ln xmlns:a="http://schemas.openxmlformats.org/drawingml/2006/main" w="0">
            <a:solidFill>
              <a:srgbClr val="E5F7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B5E04-9B3C-4D47-ADA9-8509C99EE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70522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2A06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2A06B"/>
                </a:solidFill>
                <a:latin typeface="Aptos"/>
                <a:ea typeface="Aptos"/>
                <a:cs typeface="Aptos"/>
              </a:rPr>
              <a:t>Self-hostable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43622A-D16F-46FE-940B-8BAEEE92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245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6E1F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6E1F0"/>
                </a:solidFill>
                <a:latin typeface="Aptos"/>
                <a:ea typeface="Aptos"/>
                <a:cs typeface="Aptos"/>
              </a:rPr>
              <a:t>Hackathon MVP | Clone, connect, demo in one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67ABF-1372-489A-8B05-6AD69967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11DC4-AC98-4BEE-91EA-B7C795E7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173791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20CF0F-E4B5-44A6-8B71-2D79A027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7C295-CC26-4115-A082-67DB5DAF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9B414-5A70-4054-9611-2DCD9035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SOC teams are drowning in alerts, not insight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D75EEB-BB70-4C12-AED4-55147B33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The pain is worst for SMEs, startups, MSMEs, and small MSSPs that need monitoring but cannot afford enterprise SOC stacks.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ECAF49-AB13-4C26-A2F3-FBDC4A41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9A7279-C9A3-4716-A9DB-548AB20B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71675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94A4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4A4A"/>
                </a:solidFill>
                <a:latin typeface="Aptos"/>
                <a:ea typeface="Aptos"/>
                <a:cs typeface="Aptos"/>
              </a:rPr>
              <a:t>Alert flood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57A91-8320-4A9F-BA2E-F14C2443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622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Duplicate, low-context SIEM events consume L1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F4CFA-E4D5-4BFB-B5E3-D1F3881D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AF0BB4-FEF9-4FEB-9E54-4EA72A2D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71675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High cost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61081-63F8-4C60-9F50-02C767C1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622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Enterprise SOAR/SIEM AI layers are priced for large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0A3CAD-5410-40F2-8D5A-5CB7EA0F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09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0BB9C-25DB-44CA-A675-59FCE27F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Slow triage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DBE03A-24ED-418F-BC04-EFDB9648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622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Analysts manually collect rule, asset, user, IOC, and history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47496-2631-43DB-BD99-F0DC176E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809750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5848A-845D-488E-9615-2981E228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71675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B5DD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6B5DD3"/>
                </a:solidFill>
                <a:latin typeface="Aptos"/>
                <a:ea typeface="Aptos"/>
                <a:cs typeface="Aptos"/>
              </a:rPr>
              <a:t>Privacy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8A946-CEF7-4909-9097-E7DB34F5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Raw logs sent to cloud AI can expose sensitive internal context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FBEC4-57D5-4FFF-BCBC-A299A3C9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49530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37860A-E0CB-4843-945C-64E8E9615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C0C2F-622D-4E32-95AB-D684DC24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14750"/>
            <a:ext cx="459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Judge insight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3B03F-58F4-436F-BCDA-B73232F7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4591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AI by itself is not the product. The wedge is deciding which alerts deserve AI calls, what context to send, what to cache, and how to turn the result into a SOC action.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6CAA93-6DD5-4BC3-B8DB-2DADEA59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4762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0C63C-5CCC-4517-AC86-2E99A7A3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571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49EA3-A7E0-4D80-850E-7927BC55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14750"/>
            <a:ext cx="4400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MVP target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7FF51-8F4F-413C-9AD4-F376C574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38600"/>
            <a:ext cx="4400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Reduce L1 queue volume by grouping duplicates, suppressing validated noise, enriching real signals, and raising only analyst-ready cases.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3AAB8C-FB26-4FE3-B262-E2FD0752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E43CBB-0B6F-4DA4-9A04-C5629D3C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533066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CC7881-E672-49CC-B1C6-BD80BDA1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0266B-A799-4092-BE62-695FCA83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MARKET TIMING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16B15-70A9-45E2-BDA5-A8FD6637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India has a strong wedge for low-cost SOC automation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384D6-61D0-4183-91B7-F115E5E2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Compliance, data protection, ISO 27001 adoption, and cloud growth are pushing smaller organizations toward central logging and monitoring.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3C04BF-FDE5-4CE9-8630-31A46AAB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19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4F896A-E3DA-463C-BCB8-8D56ED71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DPDP Act increases attention on data handling and breach readiness.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461A9-5EF6-402E-A48A-FAAB6B8D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76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CE80CD-C106-4F99-8C0F-07719178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098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ISO/IEC 27001 programs require monitoring, logging, incident evidence, and audit trails.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5651D7-5E32-4719-A8CC-133C5DA6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C3525-CF56-43E3-88B7-5A7B6027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SMEs and fintech/startups need SOC maturity without enterprise license cost.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2FFEF-C3AE-4209-9F5C-7972314B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B7636-3DBB-40F9-87B2-5B23CEA2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Self-hosted Wazuh + local LLM keeps sensitive logs under customer control.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2D80E-D53D-4C92-8AFD-F62CE90A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19250"/>
            <a:ext cx="390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8596C-5F92-461C-9C5C-2DF843BF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526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Primary ICP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139D8-5ED1-43B2-BF5B-BC3A0ECD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43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80A295-4A2B-4E45-8E04-140BD892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765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SMEs/MSMEs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7FAC9-9FA4-4E58-8730-7BDCB7EC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52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902C4B-F8BF-430F-B588-41873D10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860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Startups and SaaS teams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52FA76-A2DB-4F39-AB3D-B585AB1A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62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F2F6D-B7DD-46E7-89ED-AC0F79A97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956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Co-operative banks and NBFC labs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BA1FF-72E9-4347-AC6A-D79F8125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67CE96-7B61-409A-AD3B-3028809D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052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MSSPs serving cost-sensitive clients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387E18-44DB-4942-8E0E-7FDE5EBE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81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2FBF6B-8E40-4945-ACB0-CF58CD71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1148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ISO 27001 readiness teams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4CF2DE-8013-43AA-A812-41930DB0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E1CEAD-3BC5-415D-9D67-FD1EF64A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17922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273AA7-C6DA-45D4-B9E4-DC66A1A3D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D8E92-E953-4F36-83ED-B8BBBB41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WHAT WE BUILT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03241A-2298-4F84-B8FA-0AA661CF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 working NetraShield MVP, not only a concept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5E264C-6858-4B9C-8249-115FF292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The current repo contains backend, UI, Wazuh/OpenSearch connector path, triage, threat intel controls, case management, n8n workflow, docs, and demo assets.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7D420-8A31-4EA8-9CD2-61CC438E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5FBF2-F57A-433F-A5D0-099303DE1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2B8B5-0CFB-4EFB-BF0A-6C5B7C40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Auth + RBAC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9DF5F-1816-457E-A93D-829BC0A2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2876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Admin, analyst, viewer roles with audit trail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23CBE8-0876-465D-A198-98E17D79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1209F-9F7B-4D06-AA1C-0391674F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673306-C476-495C-A215-986D903F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4785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Connectors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827CE-E496-4C6F-826C-16ABF0DC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71700"/>
            <a:ext cx="2876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Wazuh API and OpenSearch health/fetch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D6303-6FA4-4193-B84F-410A41464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39AE5-64E0-4577-8363-888A8C1A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764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84FDC-C7F1-4719-8EBB-B8E728F4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4785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AI Triage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421A89-6F8F-4E9B-B9F6-253622FE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71700"/>
            <a:ext cx="2876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Noise score, signal score, verdict, evidence, 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6A2084-D4A0-43CE-A9A0-27C99ECD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E7566E-3AF6-4402-AB28-D6E07C37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6B5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4A374-0D03-41AD-AB73-65F6963C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Threat Intel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EA8370-D91A-451B-BB24-AD5CC21E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876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VirusTotal, AbuseIPDB, OTX, MISP, local IOC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AF6E6E-C63F-47ED-AF19-ABC1A099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004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68310-B81E-46D7-B7D4-3D9C7305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004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60A20-71E3-4A59-A3A0-68A2E5A89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Cases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A12AF-F45A-4871-969C-659327C2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695700"/>
            <a:ext cx="2876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Jira-style lifecycle, SLA, owner, resolution history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C8737E-E0F7-4CC6-9938-0245E1DF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00400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A4A31-09A0-4300-AA98-2F3B3DE3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2004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532375-23C7-4DE9-9146-48AFAB47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2876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9C5806-2F6D-4517-BAF5-C606F247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95700"/>
            <a:ext cx="2876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n8n webhook and approval-gated high-impact actions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E1BED0-8FAF-4D88-8845-5AD6305C0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50BAB1-72A3-4DF6-A1BB-226EC217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4397370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782C2E-8020-4C9E-86FC-548D17AE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97941F-0F35-4641-B72A-5717E259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C27E7E-34D8-4EDC-A899-D48CA2B6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Wazuh-first today, SIEM-agnostic by design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875E5-4F1A-4796-9674-9DA167A8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Connectors normalize alerts into a common schema before AI, enrichment, cases, and SOAR.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4C06EA-9A6C-4161-AB5F-0ED6029A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0"/>
            <a:ext cx="119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33A"/>
          </a:solidFill>
          <a:ln xmlns:a="http://schemas.openxmlformats.org/drawingml/2006/main" w="0">
            <a:solidFill>
              <a:srgbClr val="1323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9E8D6-A3FC-4462-98F8-9484D0F5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1000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Wazuh / OpenSearch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1DE88B-1E3A-449B-8BB4-D2CBEB155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7813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B8C4D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55AC3-CDA2-4FDA-B370-402ADEA7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119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CC7F2-D14A-4F0D-B550-527475D0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90800"/>
            <a:ext cx="1000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934EF-49D2-4944-9593-B206AF6A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B8C4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DD39E-2253-4285-A82C-791CD784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76500"/>
            <a:ext cx="119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6893F-7270-4ACD-BD6A-CB0E761F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90800"/>
            <a:ext cx="1000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Normalized 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77156C-C48F-43F0-822C-F1859362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B8C4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6A97D4-034A-4B6A-8053-AF1BCFF1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76500"/>
            <a:ext cx="119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8E881E-22F7-44FC-8FC5-F34C9703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1000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Noise Engine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C3C94C-2407-4A9E-A499-CE5E3F37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B8C4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66C351-9866-4044-BD15-36653B68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119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6B5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7BF47A-4B44-4598-8B44-A6778A3C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90800"/>
            <a:ext cx="1000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LLM / Ollama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475CB9-2C2F-4093-83C7-2C848959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813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B8C4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2BD52-7CB6-4AE6-9A47-EAB51162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119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5BC45A-3D2F-491A-8B32-DED42212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1000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2505B0-8CDE-48BC-88AC-EFEEDB577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81300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6"/>
          </a:solidFill>
          <a:ln xmlns:a="http://schemas.openxmlformats.org/drawingml/2006/main" w="0">
            <a:solidFill>
              <a:srgbClr val="B8C4D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36B2A-D6C2-4E22-A105-BFBEAD4C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76500"/>
            <a:ext cx="1190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6FA105-0DAE-4820-9981-811F3728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90800"/>
            <a:ext cx="1000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n8n SOAR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1CBCEC-FDE2-4BA4-915C-B3992D2C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093975-AAEB-4A27-B816-3BB1208F5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4B1E0A-A6B1-48CE-AB1E-F14EE79F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Replaceable SIEM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B06FF7-C1DF-422E-BD2E-4D092661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2686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Add Splunk, Sentinel, Elastic, QRadar, or EDR connectors without rewriting triage logic.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81ADEB-4C47-43EB-992A-4F55C671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67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2D95BD-0394-4582-8130-C08631D1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67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4D6A9F-F9BF-44B8-AEB3-F57A72F3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2481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Cost control layer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A7D42E-7815-4775-8576-7AD3BDD8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72000"/>
            <a:ext cx="2686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Compact JSON, severity threshold, duplicate cache, local LLM fallback, stronger models only when justified.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8F2C07-8FD6-4FD2-B2D2-4EAA8BFA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C7948D-3CBF-4D3B-B616-14AC0A89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76700"/>
            <a:ext cx="571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4CC74C-75A7-48F7-80C9-35225C94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48150"/>
            <a:ext cx="2686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SOC workflow layer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A102D6-C1FA-4E0F-B61A-6836E3CF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572000"/>
            <a:ext cx="2686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Every verdict can become a case, approval request, SOAR run, and audit log.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2AA28D-E18D-4CF1-89C8-85D57215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B1C43E-194F-4431-9923-B1EB749A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01697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053092-BC20-4269-8EEE-E91E99B0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048A6B-97E2-44DE-877B-9D0036E2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CORE DIFFERENTIATOR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3B8B2-6292-4A21-8DAC-8E00143F9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Noise reduction is a pipeline, not one model call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8423D-1D97-46E0-9DA7-18C32CF3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The MVP reduces analyst load before using expensive AI and records why each alert was suppressed, grouped, escalated, or reviewed.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1C449-B8ED-45A6-B910-E9B69DFC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92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F0E065-D4BD-4317-9BE7-53120672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AA45FC-A414-46FA-AC0E-7BBFF274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Normalize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96D11D-6A1E-4594-8649-EFAF694D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Rule, asset, user, MITRE, network, raw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26FFD-2B9C-44E4-8687-57BB59F5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09750"/>
            <a:ext cx="192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5E14D-C995-4133-BECD-3FE412D8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A2BAC3-5A29-4E92-BF8B-3D04FFFD1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9812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Deduplicate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E4E736-84CE-4404-A7B2-557D6683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3050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Correlation key and repeat grouping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22C1B-C388-490C-845B-E8A17E2C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09750"/>
            <a:ext cx="192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102A54-FD74-49C6-8F64-FC1F1C49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4AACA1-21C0-482C-9915-5B72A873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812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Score Signal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DCE9AE-2226-4DE3-95CB-188B6294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Severity, entity history, IOC, MITRE, source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1B83C6-7287-4D72-8E6B-4B87670B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09750"/>
            <a:ext cx="192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298E52-2561-463C-95CB-80CF0BB4A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6B5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4D9AA2-0739-4A1F-AB3C-064BCCA8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9812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Cheap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4BC860-A772-440F-B0B3-DF9D43913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050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Only compact context, JSON-only answer, cache repeats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4BB7AC-AF56-49DC-8967-63BAFCB0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9750"/>
            <a:ext cx="19240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3E6222-EE3B-41FB-BB6D-5F32D9B3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9750"/>
            <a:ext cx="571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8D8958-BDE1-4199-BEE9-5442DEB86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981200"/>
            <a:ext cx="1562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5. Case Route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559414-3282-4777-ACD6-DC49A6CE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15621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Suppress, review, escalate, create case, trigger SOAR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16FAF-00E0-488F-ADC0-1DAD239A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226DCFA-1E58-441D-88E0-45FD73CC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106299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4A4A"/>
          </a:solidFill>
          <a:ln xmlns:a="http://schemas.openxmlformats.org/drawingml/2006/main" w="0">
            <a:solidFill>
              <a:srgbClr val="D94A4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C7E686-B041-48AA-8B1D-E0DC9E8F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Raw alert noise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5BA7E0-3E52-4C80-8D75-5C16EC95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A2D919-88BE-4D7A-BD08-AC51C3A8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3248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A6A88B-487B-41F3-93D6-38D6CFE9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815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Grouped / low priority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9A7D67-BD2C-4140-AFC9-B6BC05C0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6"/>
          </a:solidFill>
          <a:ln xmlns:a="http://schemas.openxmlformats.org/drawingml/2006/main" w="0">
            <a:solidFill>
              <a:srgbClr val="E8EE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122699-84D9-410C-9664-9FC57C3D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91125"/>
            <a:ext cx="460629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A1BAF5-4BFD-48B2-A2B5-6754B499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62550"/>
            <a:ext cx="1381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Target queue reduction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0E862E-F69A-444A-8793-8AC3392B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43400"/>
            <a:ext cx="285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 MVP outcome: 70-80% fewer L1 items for repetitive categories after analyst validation and tuning.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CA0FEDA-11CE-4DA5-B9D1-9ED07444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DD117B-4271-4B39-8343-13C76F52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5405626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6844FB-819B-420B-B2E0-87DE0603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2D2D2-B00F-4830-9124-C961D52F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LIVE DEMO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6EC9F0-F2B3-486B-82D3-4D9F36E2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Show the tool working in 6 minutes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D8146-A295-45D9-9803-1A7ABAF7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Use the same server: Wazuh + n8n + NetraShield. Keep the story on alert clarity and analyst time saved.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672A0-1152-4E7B-B87D-AF4B67CC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20F1E9-4735-44B8-86E0-8D5C06B8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383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Login as admin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7EB48-07C5-47F3-9FF9-14CD409CF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D3F3F2-526B-41F2-A2AF-A544625E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Check Wazuh + OpenSearch 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9CB80-5489-4CBD-8FC1-61302426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7CCAE-F604-4C79-9D43-6E8412D4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Fetch live Wazuh alerts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0F0B7-A28C-4429-BD96-0A6933EC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DA418-12E3-470B-9824-9FBC2FA5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Run sync with triage=true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F7F1F1-10BA-4139-910B-584F1904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05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761E57-7AAE-45BB-BA9B-3F5AB2A1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Open triage detail: evidence, confidence, suppression reason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4A5AC-87A4-4F23-A29D-54222137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05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4D5530-1619-4FF3-B006-53A4974E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Run threat intel enrichment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CD4EF6-3E68-4CF1-A810-AD0107CB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7522C9-198C-4FCA-A3A4-D627EB5C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Raise case and assign owner/SLA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2A04E-A8C2-4FAA-AF52-A4B165B7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05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69DE01-4D21-4F43-AB8A-B14D84A9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Trigger n8n dry-run SOAR workflow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3DE474-0CBA-4618-BD2D-03C47848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567650-86F7-47D6-8F8A-745F070E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38700"/>
            <a:ext cx="533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Show executive dashboard metrics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042551-2405-4E30-9941-D87C9232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D1E100-5FDF-4C24-A877-186FC66C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907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7EF"/>
          </a:solidFill>
          <a:ln xmlns:a="http://schemas.openxmlformats.org/drawingml/2006/main" w="0">
            <a:solidFill>
              <a:srgbClr val="E5F7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B754D5-F02B-4193-850A-D7975F88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1485900" cy="1485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2C8487-BD2A-4BFD-8F42-85C8337A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3845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70-80%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75EAC8-FD72-4C95-A974-2DB836CC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target queue reduction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B3CCC6-3BA4-4244-BABD-A3680A461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Make clear this is category-dependent and improves with feedback.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8A0257-AB16-49FB-A702-148F90D29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385F25-2810-4A49-B1C8-8092B896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93243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F54DE1-6060-4476-B030-1C29DE8E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529403-DB1A-493B-8C81-145BF6E6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COST ADVANTAGE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80D41-537C-4166-879F-01ABD979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Use AI only where it changes analyst 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91CB94-267D-488F-99A5-AA33AEE4D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The product is designed around token discipline: local model first for bulk triage, cloud mini model for structured reasoning, cache repeated alerts.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A41ADC-BFFB-4338-882A-F8C57ACB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5BC48-8498-4DDA-9DEE-A6234EA61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19275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Local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6CAC8-3AE0-49F2-82EC-677EB748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Ollama/Mistral for private bulk triage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613D9-1881-4DF6-80DB-66C753AD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6573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1BE74-DD3B-4B3C-9CC8-8C6958CF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19275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Tiny prompts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3C35F-8776-4C9E-8105-63E7D2DB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98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Normalized fields, no full raw log dumps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6D155D-88FA-4615-9C0B-CC9C2B74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573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D841A3-5AA1-4B52-A874-2F91CBCC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19275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A06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2A06B"/>
                </a:solidFill>
                <a:latin typeface="Aptos"/>
                <a:ea typeface="Aptos"/>
                <a:cs typeface="Aptos"/>
              </a:rPr>
              <a:t>Cache hits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0B279-0802-4A88-A7EB-FC6C114A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Repeated alerts avoid repeated model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237B9-48B7-41A4-8E14-E2CD9560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57350"/>
            <a:ext cx="23812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15CB24-9BCF-4561-8025-23607597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19275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Escalate 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8A641-098C-43B4-869F-5A9E2327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09800"/>
            <a:ext cx="2038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Stronger model for demo-critical/high-risk summaries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1A8F6C-08F1-441B-AB9F-F29391C9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8953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E3AE1-BA13-49E1-9390-62BBF2CC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Example economics for SMB SOC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82A13-93FB-4E08-8777-FD846DDB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053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If 100k monthly alerts become 20k compact triage calls after deterministic filters and cache, cloud AI usage can stay in a small operating budget while local LLM handles the long tail.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D767A-BBC9-4E78-818B-6857EB7D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05375"/>
            <a:ext cx="819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Pricing source: OpenAI API pricing page for small model/token-cost planning.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BE1135-384B-461D-9178-39C95F8D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B1135B-BCD5-4D07-B480-CEA55826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1647945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A4A3D-DA71-476C-9684-CDA715A8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8EE76-812B-4568-89AA-E06995DC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PRIVACY AND COMPLIANCE WEDGE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70E8E-BA64-43EC-86C3-BFC7720F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Security monitoring without exporting everything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18A8C-A2C9-4CD6-B3F7-D6C20B54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NetraShield is positioned for organizations that need evidence, monitoring, and privacy-aware workflows at startup-friendly cost.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FFA07-10EA-44BC-8E8B-1E66128B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4DB77-5CD9-454F-B332-1385B5E8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4F4EAE-3249-4453-B380-5A970417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DPDP-ready thinking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CA3BB-8078-4EAC-B2C3-5B1B366E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717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Minimize external data sharing; send only public IOCs/hashes to threat intel and compact alert context to LLMs.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811473-2CD1-4E1F-BBCA-1F0F1CB7B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764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6F4DA-D4CD-4350-9C2C-55475FF2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764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284422-863F-4EF0-9DF1-B3CC97A0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8478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ISO 27001 fit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58FFFC-D698-4170-B866-115E77AB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1717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Centralized logging, monitoring activity evidence, incident history, access control, and audit logs.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8B821-3935-4374-AF5B-0A5AA966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3143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C23E4D-0E63-4211-9308-8AB0D036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76400"/>
            <a:ext cx="57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27A56F-BE17-4DF7-903B-A6F8E753D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47850"/>
            <a:ext cx="2781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Self-hostable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4BB2A-0C4E-4D18-99C5-A0343A77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27813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Run Wazuh, NetraShield, n8n, SQLite/Postgres, and Ollama on controlled infrastructure.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C13CD3-A5E8-48E5-8073-03862EFA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6"/>
          </a:solidFill>
          <a:ln xmlns:a="http://schemas.openxmlformats.org/drawingml/2006/main" w="9525">
            <a:solidFill>
              <a:srgbClr val="F9D7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FBD778-7CA1-48E5-9C43-9037EC2A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Compliance story for judges: not “replace compliance tooling”, but make SIEM monitoring and incident evidence affordable for smaller Indian businesses.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FEB57-F25C-47F8-B21D-C5B69468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402865-1A8B-4843-88BF-6F84D058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883504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0793A7-EA9E-4346-BF6C-053B8348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ADB4D-974E-4572-9E23-4C1602B03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COMMERCIAL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BEF2C4-15E6-46C5-AADD-B30DBF0E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Low-cost security operations layer for the underserved market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10A9F-25F0-48E1-9D02-26B1D133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Start with Wazuh users, then expand to SIEM-agnostic connectors and MSSP multi-tenant operation.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0A514-9BF6-44E8-A41B-8188A2E7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B7D84-697E-4D45-BD3B-A14BC44A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6215C-E1A4-4546-BC8C-F46B2B18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669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Community / Lab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59591-FE74-4582-B623-9953B744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1145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Self-hosted, Wazuh connector, offline triage, local IOC, basic n8n workflows.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5FCF3-66BF-4211-8318-C42DDDF9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95450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373B2-41A4-40BE-91AB-0A4633D7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6954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45FBA-7777-4DA4-90B6-489FAFE8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8669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SME Pro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4690D-E65E-4A98-8C6F-86814247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190750"/>
            <a:ext cx="21145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Cloud mini model, threat intel, case SLA, dashboards, compliance reports, support.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D1616-3911-4B86-8903-601F48E9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2476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89AD54-693A-41B0-BDA0-061047C5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954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35594C-6E8A-46C9-A81C-740F220C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9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MSSP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B952E3-56B1-454D-B1D0-D6C4E835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90750"/>
            <a:ext cx="21145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Multi-tenant cases, customer workspaces, SIEM connector pack, playbook library.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1583D-2E71-42BF-B903-ACDEF48C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9545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57BD58-3D1B-427B-8F0E-6CB5775C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695450"/>
            <a:ext cx="57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5DD3"/>
          </a:solidFill>
          <a:ln xmlns:a="http://schemas.openxmlformats.org/drawingml/2006/main" w="0">
            <a:solidFill>
              <a:srgbClr val="6B5D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A2BC2-EEFE-4FAB-B5F9-B2C61E74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669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DF2AAB-5C07-4AB8-BB00-EFA2581F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90750"/>
            <a:ext cx="1638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Postgres, SSO, HA, custom connectors, approval governance.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531BE2-F79A-4955-AE2D-8A623445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3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CA9F9F-B1D3-490D-8BA0-1B4CF843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767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Pricing thesis: software license + customer-owned infrastructure + pay-as-you-go AI token usage.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E2C9D2-76F7-4E3F-85B2-E2D77D42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43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A637A7-8006-49DE-A7D2-51A72BD3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Value metric: analyst queue reduction, time-to-triage, and avoided enterprise SOAR/SIEM AI premium.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BAF2D5-3530-4849-BAA5-C24D4797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3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0AEE17-8CB2-455B-B908-8F087FAA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7685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Pilot target: one Wazuh lab, one SME/startup SOC, one MSSP analyst workflow.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555153-65AD-4413-B851-B6E490C0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D2E09F-5DFB-422D-99B3-1782ED97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8829946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E2194-30B0-4875-9FDA-53E094FF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6A543B-F67F-4089-9DD6-2412A0B9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PRODUCT LIFELINE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F77A9-EB15-4B74-BEBD-F95662D6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From 7-day MVP to pilot-ready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390BE-60BD-4A16-B7D9-3EEA0F51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The MVP proves the core loop; next work hardens deployment, governance, SIEM coverage, and measurable accuracy.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D858C8-97DF-4DD5-BBF7-5522939A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80252C-FE53-4399-92D8-03DB99AB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F4043A-A707-45DD-A050-8C3E29C6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8120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68B1D-DB9A-48D3-B362-B0E6E7BC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19240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Clone, connect Wazuh, fetch alerts, triage, enrich, case, n8n dry-run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F6EAD3-3EB4-48F4-AB94-B2DC0804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E7E04E-9A1D-4440-90BF-9D511265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09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82671-2D68-4129-9FD4-3C608E2C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8120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30 days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FA30C-54AD-43F4-8C8A-B6CFBD4A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05050"/>
            <a:ext cx="19240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Postgres, HTTPS, Docker Compose, stronger RBAC, report exports, local model tuning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D4111-7A3A-45ED-BD05-C719DB26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E6F30D-30CE-4C01-9DA6-D5AB956E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0D612-48DE-4204-B852-90F9E675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8120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90 days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B063D-E51E-4D24-806A-A9426D60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05050"/>
            <a:ext cx="19240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Splunk/Sentinel/Elastic connectors, multi-tenant MSSP, playbook marketplace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F0968B-DC19-41EF-85D2-B568092A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2286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0D808-8DEA-4579-9A0F-CC042E0D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809750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06B"/>
          </a:solidFill>
          <a:ln xmlns:a="http://schemas.openxmlformats.org/drawingml/2006/main" w="0">
            <a:solidFill>
              <a:srgbClr val="22A06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752F14-C2FE-40CB-8038-B2078E5A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8120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6 months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D7AC6F-9EC0-474E-9E4D-48158F32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05050"/>
            <a:ext cx="19240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Closed-loop learning, customer-specific baselines, compliance evidence packs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18BC4-767A-444F-A40A-6C1162AE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The moat is not only UI. It is SOC-specific signal scoring, feedback memory, privacy-first enrichment, and operational workflow evidence.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C373A5-AD76-40BF-94C7-B9B4252E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A642BE-7597-42AA-A2C5-EEF746E8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32183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5BE5D3-E2E0-4ECD-AD68-C36DD210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A69FA-F96C-4229-82BE-1C40BD93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JUDGE 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E1A144-6FA5-4644-9796-6623E3A5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Validate the pain, then pilot the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0536D-8932-4BB6-8457-D5641A254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The strongest next step is a short pilot with real alert categories and analyst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D7733-E0B7-44ED-A929-8F448A35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8DA90C-6911-4138-8D3B-F1696911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76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Pilot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7CB982-04EE-4B53-B08A-4698998F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1-2 weeks of Wazuh alert categories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B42B16-6F95-49DA-A09D-5BA7D9911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AFDFDA-CD6A-490F-9859-769BFE7C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76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2A06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2A06B"/>
                </a:solidFill>
                <a:latin typeface="Aptos"/>
                <a:ea typeface="Aptos"/>
                <a:cs typeface="Aptos"/>
              </a:rPr>
              <a:t>Success metric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75AA9-8A08-4912-997E-86684692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669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70%+ queue reduction on repetitive noise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301EF-E1A4-4B4F-8A58-FF5D1F4D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145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F61B23-EAC1-4B53-8B28-BB5BFC12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76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Human gate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0D0BA3-C208-4EC5-B691-AFB18FF7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Analyst validates suppression and escalation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F4D5F0-CCE5-4D36-B86F-47DF301A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145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39BCD-BED8-4211-9A3F-C50D3F19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76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F52D7B-A8E1-4734-A88A-A53D6496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66950"/>
            <a:ext cx="2133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26172"/>
                </a:solidFill>
                <a:latin typeface="Aptos"/>
                <a:ea typeface="Aptos"/>
                <a:cs typeface="Aptos"/>
              </a:rPr>
              <a:t>Lower L1 workload and clearer L2 cases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8F756-B884-48C0-9FAC-BB677BA4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14750"/>
            <a:ext cx="9620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BAAFD-8DA9-4A13-917E-C90ACF4C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714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89F4C8-9290-45E0-805E-86A60134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886200"/>
            <a:ext cx="925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Final pitch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5D897D-7CE8-4CAB-8D4C-640BC739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10050"/>
            <a:ext cx="9258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NetraShield makes open-source SIEM more usable for cost-sensitive teams by turning noisy alerts into explainable, auditable, action-ready cases with low AI spend.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154D1-15E1-45AC-A03D-DB8FBD0A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A12B4-C326-4FC6-AB46-F813DA4A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7972101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99F6A4-4A29-442E-88DF-6B1899A4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D00EA-EC7B-4789-838C-8937EAD1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9F8F"/>
                </a:solidFill>
                <a:latin typeface="Aptos"/>
                <a:ea typeface="Aptos"/>
                <a:cs typeface="Aptos"/>
              </a:rPr>
              <a:t>SOURCES AND DEMO ASSETS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2D0C2F-62D6-47BA-8BA3-C3FEF21B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8572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Evidence base used for the judge 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433A3-CBEB-43F2-868B-9ADBB2F0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58A"/>
                </a:solidFill>
                <a:latin typeface="Aptos"/>
                <a:ea typeface="Aptos"/>
                <a:cs typeface="Aptos"/>
              </a:rPr>
              <a:t>All repo code and docs are pushed to GitHub; external references are used only for market/compliance/context framing.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84E61-A765-4DE0-B46F-27E5A69C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81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B335A4-3978-464A-9511-34622644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145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GitHub: https://github.com/cybermukesh/ai-soc-soar-mvp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4CAD59-EDB3-4B4A-91BF-49632ACA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B81A2-C1EE-4BBF-B435-E8A75572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717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Wazuh docs: https://documentation.wazuh.com/current/getting-started/index.html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AE7E56-E11C-4286-9901-820C060D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5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4ED1D2-2114-4106-80B4-1102BEB6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289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n8n Docker docs: https://docs.n8n.io/hosting/installation/docker/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7675BB-75AD-4125-BB51-AC1D525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ABB06-159A-41F2-80D0-C7F79CF1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OpenAI API pricing: https://platform.openai.com/docs/pricing/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0F812-7188-4AAF-A5A6-44F324D1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99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7B4A4-E8C4-4402-BA63-66B5A2B9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433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India Code DPDP Act: https://www.indiacode.nic.in/indiacode/handle/123456789/22037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A640C4-BBFE-451A-B77F-AF82574F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8F"/>
          </a:solidFill>
          <a:ln xmlns:a="http://schemas.openxmlformats.org/drawingml/2006/main" w="0">
            <a:solidFill>
              <a:srgbClr val="0E9F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AAEF8-F189-4B66-9D9C-85042386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0050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2617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26172"/>
                </a:solidFill>
                <a:latin typeface="Aptos"/>
                <a:ea typeface="Aptos"/>
                <a:cs typeface="Aptos"/>
              </a:rPr>
              <a:t>ISO/IEC 27001 overview: https://www.iso.org/standard/27001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371760-95F5-480C-A2D3-E1A18FA5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8793A3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793A3"/>
                </a:solidFill>
                <a:latin typeface="Aptos"/>
                <a:ea typeface="Aptos"/>
                <a:cs typeface="Aptos"/>
              </a:rPr>
              <a:t>NetraShield MVP | Judge Demo | May 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A133E-7B98-4FB7-A653-D5DC16F2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515100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6758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58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823130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2026-05-31T16:43:13.7730000Z</dcterms:created>
  <dcterms:modified xsi:type="dcterms:W3CDTF">2026-05-31T16:43:13.7730000Z</dcterms:modified>
</coreProperties>
</file>