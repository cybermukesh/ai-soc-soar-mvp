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7b213b039d343ae" /><Relationship Type="http://schemas.openxmlformats.org/officeDocument/2006/relationships/extended-properties" Target="/docProps/app.xml" Id="R35f3078fb8804656" /><Relationship Type="http://schemas.openxmlformats.org/officeDocument/2006/relationships/officeDocument" Target="/ppt/presentation.xml" Id="R5d6eb01c7b10423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c88583298394afa"/>
  </p:sldMasterIdLst>
  <p:notesMasterIdLst>
    <p:notesMasterId xmlns:r="http://schemas.openxmlformats.org/officeDocument/2006/relationships" r:id="Rb19d099b0f4e4940"/>
  </p:notesMasterIdLst>
  <p:sldIdLst>
    <p:sldId xmlns:r="http://schemas.openxmlformats.org/officeDocument/2006/relationships" id="256" r:id="Rda949ec26aad448a"/>
    <p:sldId xmlns:r="http://schemas.openxmlformats.org/officeDocument/2006/relationships" id="257" r:id="R34f946cb59984963"/>
    <p:sldId xmlns:r="http://schemas.openxmlformats.org/officeDocument/2006/relationships" id="258" r:id="R83baf41dc256498a"/>
    <p:sldId xmlns:r="http://schemas.openxmlformats.org/officeDocument/2006/relationships" id="259" r:id="Rb6edcbefdf504cb4"/>
    <p:sldId xmlns:r="http://schemas.openxmlformats.org/officeDocument/2006/relationships" id="260" r:id="Rc985548a70cf4652"/>
    <p:sldId xmlns:r="http://schemas.openxmlformats.org/officeDocument/2006/relationships" id="261" r:id="Re6becbbde4064ea8"/>
    <p:sldId xmlns:r="http://schemas.openxmlformats.org/officeDocument/2006/relationships" id="262" r:id="R6656edbc463044fe"/>
    <p:sldId xmlns:r="http://schemas.openxmlformats.org/officeDocument/2006/relationships" id="263" r:id="R93bfdb963a7a4b46"/>
    <p:sldId xmlns:r="http://schemas.openxmlformats.org/officeDocument/2006/relationships" id="264" r:id="Raf4814aa767c49d0"/>
    <p:sldId xmlns:r="http://schemas.openxmlformats.org/officeDocument/2006/relationships" id="265" r:id="Re261d3a6f4734818"/>
    <p:sldId xmlns:r="http://schemas.openxmlformats.org/officeDocument/2006/relationships" id="266" r:id="Rdfb8d580d8a84cdb"/>
    <p:sldId xmlns:r="http://schemas.openxmlformats.org/officeDocument/2006/relationships" id="267" r:id="R72509358734e4435"/>
    <p:sldId xmlns:r="http://schemas.openxmlformats.org/officeDocument/2006/relationships" id="268" r:id="Ra862b714be034c01"/>
    <p:sldId xmlns:r="http://schemas.openxmlformats.org/officeDocument/2006/relationships" id="269" r:id="R5fe1b1c8f71849e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88583298394afa" /><Relationship Type="http://schemas.openxmlformats.org/officeDocument/2006/relationships/theme" Target="/ppt/theme/theme1.xml" Id="Rd9abc70e60cf4fa8" /><Relationship Type="http://schemas.openxmlformats.org/officeDocument/2006/relationships/notesMaster" Target="/ppt/notesMasters/notesMaster1.xml" Id="Rb19d099b0f4e4940" /><Relationship Type="http://schemas.openxmlformats.org/officeDocument/2006/relationships/presProps" Target="/ppt/presProps.xml" Id="R551c509a398b44af" /><Relationship Type="http://schemas.openxmlformats.org/officeDocument/2006/relationships/viewProps" Target="/ppt/viewProps.xml" Id="R598434dd1c4140b7" /><Relationship Type="http://schemas.openxmlformats.org/officeDocument/2006/relationships/tableStyles" Target="/ppt/tableStyles.xml" Id="Rb88e69f3c1c146d8" /><Relationship Type="http://schemas.openxmlformats.org/officeDocument/2006/relationships/slide" Target="/ppt/slides/slide1.xml" Id="Rda949ec26aad448a" /><Relationship Type="http://schemas.openxmlformats.org/officeDocument/2006/relationships/slide" Target="/ppt/slides/slide2.xml" Id="R34f946cb59984963" /><Relationship Type="http://schemas.openxmlformats.org/officeDocument/2006/relationships/slide" Target="/ppt/slides/slide3.xml" Id="R83baf41dc256498a" /><Relationship Type="http://schemas.openxmlformats.org/officeDocument/2006/relationships/slide" Target="/ppt/slides/slide4.xml" Id="Rb6edcbefdf504cb4" /><Relationship Type="http://schemas.openxmlformats.org/officeDocument/2006/relationships/slide" Target="/ppt/slides/slide5.xml" Id="Rc985548a70cf4652" /><Relationship Type="http://schemas.openxmlformats.org/officeDocument/2006/relationships/slide" Target="/ppt/slides/slide6.xml" Id="Re6becbbde4064ea8" /><Relationship Type="http://schemas.openxmlformats.org/officeDocument/2006/relationships/slide" Target="/ppt/slides/slide7.xml" Id="R6656edbc463044fe" /><Relationship Type="http://schemas.openxmlformats.org/officeDocument/2006/relationships/slide" Target="/ppt/slides/slide8.xml" Id="R93bfdb963a7a4b46" /><Relationship Type="http://schemas.openxmlformats.org/officeDocument/2006/relationships/slide" Target="/ppt/slides/slide9.xml" Id="Raf4814aa767c49d0" /><Relationship Type="http://schemas.openxmlformats.org/officeDocument/2006/relationships/slide" Target="/ppt/slides/slide10.xml" Id="Re261d3a6f4734818" /><Relationship Type="http://schemas.openxmlformats.org/officeDocument/2006/relationships/slide" Target="/ppt/slides/slide11.xml" Id="Rdfb8d580d8a84cdb" /><Relationship Type="http://schemas.openxmlformats.org/officeDocument/2006/relationships/slide" Target="/ppt/slides/slide12.xml" Id="R72509358734e4435" /><Relationship Type="http://schemas.openxmlformats.org/officeDocument/2006/relationships/slide" Target="/ppt/slides/slide13.xml" Id="Ra862b714be034c01" /><Relationship Type="http://schemas.openxmlformats.org/officeDocument/2006/relationships/slide" Target="/ppt/slides/slide14.xml" Id="R5fe1b1c8f71849e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40873f4e3d7c449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656d037c0d54e27" /><Relationship Type="http://schemas.openxmlformats.org/officeDocument/2006/relationships/notesMaster" Target="/ppt/notesMasters/notesMaster1.xml" Id="R80df62eaa1f045b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aedbadfac1843ed" /><Relationship Type="http://schemas.openxmlformats.org/officeDocument/2006/relationships/notesMaster" Target="/ppt/notesMasters/notesMaster1.xml" Id="R6cac3be8efdd43b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8cf5d6dd09846ab" /><Relationship Type="http://schemas.openxmlformats.org/officeDocument/2006/relationships/notesMaster" Target="/ppt/notesMasters/notesMaster1.xml" Id="R0abf1612df37452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2c8a062a2624558" /><Relationship Type="http://schemas.openxmlformats.org/officeDocument/2006/relationships/notesMaster" Target="/ppt/notesMasters/notesMaster1.xml" Id="Rcffef80bb89e4d4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1b90c922e054578" /><Relationship Type="http://schemas.openxmlformats.org/officeDocument/2006/relationships/notesMaster" Target="/ppt/notesMasters/notesMaster1.xml" Id="Re073d89084d0498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c68d89398ae4525" /><Relationship Type="http://schemas.openxmlformats.org/officeDocument/2006/relationships/notesMaster" Target="/ppt/notesMasters/notesMaster1.xml" Id="R6f2a348ab8f24da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a28b51560a1427c" /><Relationship Type="http://schemas.openxmlformats.org/officeDocument/2006/relationships/notesMaster" Target="/ppt/notesMasters/notesMaster1.xml" Id="Rd1459ac485ec4c8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ff7fe66a0c94b11" /><Relationship Type="http://schemas.openxmlformats.org/officeDocument/2006/relationships/notesMaster" Target="/ppt/notesMasters/notesMaster1.xml" Id="R6e5ae40b3fd44a6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e20346762d14693" /><Relationship Type="http://schemas.openxmlformats.org/officeDocument/2006/relationships/notesMaster" Target="/ppt/notesMasters/notesMaster1.xml" Id="Re1e00cea33bb4ca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ed603063a06448b" /><Relationship Type="http://schemas.openxmlformats.org/officeDocument/2006/relationships/notesMaster" Target="/ppt/notesMasters/notesMaster1.xml" Id="R34115c8b8700431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3a3c4ea14894411" /><Relationship Type="http://schemas.openxmlformats.org/officeDocument/2006/relationships/notesMaster" Target="/ppt/notesMasters/notesMaster1.xml" Id="R4e02394032f24d8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e0b2c990eb74ea5" /><Relationship Type="http://schemas.openxmlformats.org/officeDocument/2006/relationships/notesMaster" Target="/ppt/notesMasters/notesMaster1.xml" Id="Rffcaadf73c0d48e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c8288f3f0424db4" /><Relationship Type="http://schemas.openxmlformats.org/officeDocument/2006/relationships/notesMaster" Target="/ppt/notesMasters/notesMaster1.xml" Id="R46cad69ee3f2433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482d928fad24d3a" /><Relationship Type="http://schemas.openxmlformats.org/officeDocument/2006/relationships/notesMaster" Target="/ppt/notesMasters/notesMaster1.xml" Id="R011519c14ecf483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6c4220183d4025" /></Relationships>
</file>

<file path=ppt/slideLayouts/slideLayout1.xml><?xml version="1.0" encoding="utf-8"?>
<p:sldLayout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19e9baf0564d8a" /><Relationship Type="http://schemas.openxmlformats.org/officeDocument/2006/relationships/theme" Target="/ppt/theme/theme1.xml" Id="Rdf84dc14c88e4844" /><Relationship Type="http://schemas.openxmlformats.org/officeDocument/2006/relationships/slideLayout" Target="/ppt/slideLayouts/slideLayout2.xml" Id="R07ef4b27eb8a47b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8" r:id="Rd419e9baf0564d8a"/>
    <p:sldLayoutId xmlns:r="http://schemas.openxmlformats.org/officeDocument/2006/relationships" id="2147483649" r:id="R07ef4b27eb8a47b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32e5717d2ea4c36" /><Relationship Type="http://schemas.openxmlformats.org/officeDocument/2006/relationships/notesSlide" Target="/ppt/notesSlides/notesSlide1.xml" Id="Red6c8c795fea488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5569a191c464e30" /><Relationship Type="http://schemas.openxmlformats.org/officeDocument/2006/relationships/notesSlide" Target="/ppt/notesSlides/notesSlide2.xml" Id="R899e714f82994fd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ef8feba0328480a" /><Relationship Type="http://schemas.openxmlformats.org/officeDocument/2006/relationships/notesSlide" Target="/ppt/notesSlides/notesSlide3.xml" Id="Rae1ed2ea8ac0447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20d118dd86248f6" /><Relationship Type="http://schemas.openxmlformats.org/officeDocument/2006/relationships/notesSlide" Target="/ppt/notesSlides/notesSlide4.xml" Id="Rd35048ce61b7494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2baf79247494462" /><Relationship Type="http://schemas.openxmlformats.org/officeDocument/2006/relationships/notesSlide" Target="/ppt/notesSlides/notesSlide5.xml" Id="Rc19bee12879b4d3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6a6d3bbe3854aa0" /><Relationship Type="http://schemas.openxmlformats.org/officeDocument/2006/relationships/notesSlide" Target="/ppt/notesSlides/notesSlide6.xml" Id="R6145e9911444422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49590feca1b407a" /><Relationship Type="http://schemas.openxmlformats.org/officeDocument/2006/relationships/notesSlide" Target="/ppt/notesSlides/notesSlide7.xml" Id="Rd21b65fcb0c342d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6fd113d78204e73" /><Relationship Type="http://schemas.openxmlformats.org/officeDocument/2006/relationships/notesSlide" Target="/ppt/notesSlides/notesSlide8.xml" Id="R96f20b37f9af4fa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122804c97014c3d" /><Relationship Type="http://schemas.openxmlformats.org/officeDocument/2006/relationships/notesSlide" Target="/ppt/notesSlides/notesSlide9.xml" Id="R85ee7d891355498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d3d4851c7544442" /><Relationship Type="http://schemas.openxmlformats.org/officeDocument/2006/relationships/notesSlide" Target="/ppt/notesSlides/notesSlide10.xml" Id="R116718f460e4416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7d0a454e42340cc" /><Relationship Type="http://schemas.openxmlformats.org/officeDocument/2006/relationships/notesSlide" Target="/ppt/notesSlides/notesSlide11.xml" Id="R9295b169de63494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415f00603c248e4" /><Relationship Type="http://schemas.openxmlformats.org/officeDocument/2006/relationships/notesSlide" Target="/ppt/notesSlides/notesSlide12.xml" Id="Rcf662ece97d941c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2363875a7334c97" /><Relationship Type="http://schemas.openxmlformats.org/officeDocument/2006/relationships/notesSlide" Target="/ppt/notesSlides/notesSlide13.xml" Id="R7cd23cbb6fd542e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2de0a9315e4312" /><Relationship Type="http://schemas.openxmlformats.org/officeDocument/2006/relationships/notesSlide" Target="/ppt/notesSlides/notesSlide14.xml" Id="R358d6a52cd084cc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8C00DFA-F704-4D37-A822-759480AB1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784CA6-B5CE-4CCE-ACCD-90C31AAF5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7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967F66-E774-4915-9E75-3FB470402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43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89386C-C8F9-4CB7-8302-74EC57B58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47750"/>
            <a:ext cx="2857500" cy="2857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B58"/>
          </a:solidFill>
          <a:ln xmlns:a="http://schemas.openxmlformats.org/drawingml/2006/main" w="0">
            <a:solidFill>
              <a:srgbClr val="173B5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25F32E-6F56-44C8-A186-5C255B228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676400"/>
            <a:ext cx="1600200" cy="1600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8E9330-A026-4B9A-B3D1-19D0EB0FE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9600"/>
            <a:ext cx="3619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E9F8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9F8F"/>
                </a:solidFill>
                <a:latin typeface="Aptos"/>
                <a:ea typeface="Aptos"/>
                <a:cs typeface="Aptos"/>
              </a:rPr>
              <a:t>NETRASHIELD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EE8580-8A4E-4528-9FA2-E3583F0DB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66675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AI alert clarity layer for Wazuh-first SOC teams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6462E2-6FA2-4715-8E3B-6EE39B511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24150"/>
            <a:ext cx="628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C9D4E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C9D4E2"/>
                </a:solidFill>
                <a:latin typeface="Aptos"/>
                <a:ea typeface="Aptos"/>
                <a:cs typeface="Aptos"/>
              </a:rPr>
              <a:t>Noise reduction, analyst-ready triage, threat intel enrichment, case lifecycle, and approval-gated SOAR on low-cost infrastructure.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44BF5B-BC21-461E-9A7E-0D33796F2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3855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7F3"/>
          </a:solidFill>
          <a:ln xmlns:a="http://schemas.openxmlformats.org/drawingml/2006/main" w="0">
            <a:solidFill>
              <a:srgbClr val="DFF7F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DD6E76-E76E-4351-A56A-CC4EFA6BA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05225"/>
            <a:ext cx="1200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0E9F8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E9F8F"/>
                </a:solidFill>
                <a:latin typeface="Aptos"/>
                <a:ea typeface="Aptos"/>
                <a:cs typeface="Aptos"/>
              </a:rPr>
              <a:t>Wazuh-first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905934-F0B7-4BE4-943C-7E50B4AA0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638550"/>
            <a:ext cx="1619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EFF"/>
          </a:solidFill>
          <a:ln xmlns:a="http://schemas.openxmlformats.org/drawingml/2006/main" w="0">
            <a:solidFill>
              <a:srgbClr val="E7EE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D8FC81-780B-438B-9A5D-6ACD9F652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705225"/>
            <a:ext cx="1390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2F6FE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2F6FED"/>
                </a:solidFill>
                <a:latin typeface="Aptos"/>
                <a:ea typeface="Aptos"/>
                <a:cs typeface="Aptos"/>
              </a:rPr>
              <a:t>SIEM-agnostic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094F5C-907E-4A44-B57C-7C419B01E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63855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6"/>
          </a:solidFill>
          <a:ln xmlns:a="http://schemas.openxmlformats.org/drawingml/2006/main" w="0">
            <a:solidFill>
              <a:srgbClr val="FFF3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9D3295-59CD-4E9B-91DE-6A74453FF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705225"/>
            <a:ext cx="1200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Low token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123AD5-D5DC-4511-86EF-2390A63DB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63855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7EF"/>
          </a:solidFill>
          <a:ln xmlns:a="http://schemas.openxmlformats.org/drawingml/2006/main" w="0">
            <a:solidFill>
              <a:srgbClr val="E5F7E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BB5E04-9B3C-4D47-ADA9-8509C99EE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705225"/>
            <a:ext cx="1200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22A06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22A06B"/>
                </a:solidFill>
                <a:latin typeface="Aptos"/>
                <a:ea typeface="Aptos"/>
                <a:cs typeface="Aptos"/>
              </a:rPr>
              <a:t>Self-hostable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43622A-D16F-46FE-940B-8BAEEE925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245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D6E1F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6E1F0"/>
                </a:solidFill>
                <a:latin typeface="Aptos"/>
                <a:ea typeface="Aptos"/>
                <a:cs typeface="Aptos"/>
              </a:rPr>
              <a:t>Hackathon MVP | Clone, connect, demo in one server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367ABF-1372-489A-8B05-6AD699679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0">
                <a:solidFill>
                  <a:srgbClr val="8793A3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8793A3"/>
                </a:solidFill>
                <a:latin typeface="Aptos"/>
                <a:ea typeface="Aptos"/>
                <a:cs typeface="Aptos"/>
              </a:rPr>
              <a:t>NetraShield MVP | Judge Demo | May 2026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E11DC4-AC98-4BEE-91EA-B7C795E78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51510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6758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01737917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620CF0F-E4B5-44A6-8B71-2D79A027A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37C295-CC26-4115-A082-67DB5DAF4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E9F8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9F8F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09B414-5A70-4054-9611-2DCD90359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8572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SOC teams are drowning in alerts, not insight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D75EEB-BB70-4C12-AED4-55147B331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19200"/>
            <a:ext cx="809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58A"/>
                </a:solidFill>
                <a:latin typeface="Aptos"/>
                <a:ea typeface="Aptos"/>
                <a:cs typeface="Aptos"/>
              </a:rPr>
              <a:t>The pain is worst for SMEs, startups, MSMEs, and small MSSPs that need monitoring but cannot afford enterprise SOC stacks.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ECAF49-AB13-4C26-A2F3-FBDC4A41F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2381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9A7279-C9A3-4716-A9DB-548AB20BA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71675"/>
            <a:ext cx="2038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D94A4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D94A4A"/>
                </a:solidFill>
                <a:latin typeface="Aptos"/>
                <a:ea typeface="Aptos"/>
                <a:cs typeface="Aptos"/>
              </a:rPr>
              <a:t>Alert flood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457A91-8320-4A9F-BA2E-F14C2443C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172"/>
                </a:solidFill>
                <a:latin typeface="Aptos"/>
                <a:ea typeface="Aptos"/>
                <a:cs typeface="Aptos"/>
              </a:rPr>
              <a:t>Duplicate, low-context SIEM events consume L1 time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1F4CFA-E4D5-4BFB-B5E3-D1F3881DD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09750"/>
            <a:ext cx="2381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AF0BB4-FEF9-4FEB-9E54-4EA72A2DC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971675"/>
            <a:ext cx="2038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High cost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761081-63F8-4C60-9F50-02C767C17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362200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172"/>
                </a:solidFill>
                <a:latin typeface="Aptos"/>
                <a:ea typeface="Aptos"/>
                <a:cs typeface="Aptos"/>
              </a:rPr>
              <a:t>Enterprise SOAR/SIEM AI layers are priced for large teams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0A3CAD-5410-40F2-8D5A-5CB7EA0F3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809750"/>
            <a:ext cx="2381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90BB9C-25DB-44CA-A675-59FCE27F7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971675"/>
            <a:ext cx="2038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2F6FED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2F6FED"/>
                </a:solidFill>
                <a:latin typeface="Aptos"/>
                <a:ea typeface="Aptos"/>
                <a:cs typeface="Aptos"/>
              </a:rPr>
              <a:t>Slow triage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DBE03A-24ED-418F-BC04-EFDB9648C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362200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172"/>
                </a:solidFill>
                <a:latin typeface="Aptos"/>
                <a:ea typeface="Aptos"/>
                <a:cs typeface="Aptos"/>
              </a:rPr>
              <a:t>Analysts manually collect rule, asset, user, IOC, and history context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747496-2631-43DB-BD99-F0DC176EA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809750"/>
            <a:ext cx="2381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95848A-845D-488E-9615-2981E2282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971675"/>
            <a:ext cx="2038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6B5DD3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6B5DD3"/>
                </a:solidFill>
                <a:latin typeface="Aptos"/>
                <a:ea typeface="Aptos"/>
                <a:cs typeface="Aptos"/>
              </a:rPr>
              <a:t>Privacy risk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E8A946-CEF7-4909-9097-E7DB34F57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362200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172"/>
                </a:solidFill>
                <a:latin typeface="Aptos"/>
                <a:ea typeface="Aptos"/>
                <a:cs typeface="Aptos"/>
              </a:rPr>
              <a:t>Raw logs sent to cloud AI can expose sensitive internal context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FFBEC4-57D5-4FFF-BCBC-A299A3C94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43300"/>
            <a:ext cx="49530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37860A-E0CB-4843-945C-64E8E9615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43300"/>
            <a:ext cx="571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DC0C2F-622D-4E32-95AB-D684DC249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714750"/>
            <a:ext cx="4591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Judge insight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E3B03F-58F4-436F-BCDA-B73232F78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038600"/>
            <a:ext cx="45910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AI by itself is not the product. The wedge is deciding which alerts deserve AI calls, what context to send, what to cache, and how to turn the result into a SOC action.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6CAA93-6DD5-4BC3-B8DB-2DADEA593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43300"/>
            <a:ext cx="47625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40C63C-5CCC-4517-AC86-2E99A7A3D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43300"/>
            <a:ext cx="571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A06B"/>
          </a:solidFill>
          <a:ln xmlns:a="http://schemas.openxmlformats.org/drawingml/2006/main" w="0">
            <a:solidFill>
              <a:srgbClr val="22A06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449EA3-A7E0-4D80-850E-7927BC557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714750"/>
            <a:ext cx="4400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MVP target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E97FF51-8F4F-413C-9AD4-F376C5748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38600"/>
            <a:ext cx="44005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Reduce L1 queue volume by grouping duplicates, suppressing validated noise, enriching real signals, and raising only analyst-ready cases.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3AAB8C-FB26-4FE3-B262-E2FD07521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0">
                <a:solidFill>
                  <a:srgbClr val="8793A3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8793A3"/>
                </a:solidFill>
                <a:latin typeface="Aptos"/>
                <a:ea typeface="Aptos"/>
                <a:cs typeface="Aptos"/>
              </a:rPr>
              <a:t>NetraShield MVP | Judge Demo | May 2026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E43CBB-0B6F-4DA4-9A04-C5629D3C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51510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6758A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55330669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1CC7881-E672-49CC-B1C6-BD80BDA19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B0266B-A799-4092-BE62-695FCA835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E9F8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9F8F"/>
                </a:solidFill>
                <a:latin typeface="Aptos"/>
                <a:ea typeface="Aptos"/>
                <a:cs typeface="Aptos"/>
              </a:rPr>
              <a:t>MARKET TIMING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E16B15-70A9-45E2-BDA5-A8FD66370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8572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India has a strong wedge for low-cost SOC automation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1384D6-61D0-4183-91B7-F115E5E2F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19200"/>
            <a:ext cx="809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58A"/>
                </a:solidFill>
                <a:latin typeface="Aptos"/>
                <a:ea typeface="Aptos"/>
                <a:cs typeface="Aptos"/>
              </a:rPr>
              <a:t>Compliance, data protection, ISO 27001 adoption, and cloud growth are pushing smaller organizations toward central logging and monitoring.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3C04BF-FDE5-4CE9-8630-31A46AAB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192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4F896A-E3DA-463C-BCB8-8D56ED718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52600"/>
            <a:ext cx="495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DPDP Act increases attention on data handling and breach readiness.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4461A9-5EF6-402E-A48A-FAAB6B8D6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764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CE80CD-C106-4F99-8C0F-07719178A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09800"/>
            <a:ext cx="495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ISO/IEC 27001 programs require monitoring, logging, incident evidence, and audit trails.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5651D7-5E32-4719-A8CC-133C5DA6B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336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CC3525-CF56-43E3-88B7-5A7B6027D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67000"/>
            <a:ext cx="495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SMEs and fintech/startups need SOC maturity without enterprise license cost.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92FFEF-C3AE-4209-9F5C-7972314BB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908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CB7636-3DBB-40F9-87B2-5B23CEA28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24200"/>
            <a:ext cx="495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Self-hosted Wazuh + local LLM keeps sensitive logs under customer control.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72D80E-D53D-4C92-8AFD-F62CE90AD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619250"/>
            <a:ext cx="3905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48596C-5F92-461C-9C5C-2DF843BF1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952625"/>
            <a:ext cx="3143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Primary ICP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8139D8-5ED1-43B2-BF5B-BC3A0ECDF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543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80A295-4A2B-4E45-8E04-140BD8928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47650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SMEs/MSMEs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D7FAC9-9FA4-4E58-8730-7BDCB7EC3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952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902C4B-F8BF-430F-B588-41873D105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886075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Startups and SaaS teams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52FA76-A2DB-4F39-AB3D-B585AB1A6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3623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5F2F6D-B7DD-46E7-89ED-AC0F79A97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2956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Co-operative banks and NBFC labs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5BBA1FF-72E9-4347-AC6A-D79F81259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7719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67CE96-7B61-409A-AD3B-3028809D4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705225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MSSPs serving cost-sensitive clients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387E18-44DB-4942-8E0E-7FDE5EBEA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1814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2FBF6B-8E40-4945-ACB0-CF58CD718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11480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ISO 27001 readiness teams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D4CF2DE-8013-43AA-A812-41930DB0D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0">
                <a:solidFill>
                  <a:srgbClr val="8793A3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8793A3"/>
                </a:solidFill>
                <a:latin typeface="Aptos"/>
                <a:ea typeface="Aptos"/>
                <a:cs typeface="Aptos"/>
              </a:rPr>
              <a:t>NetraShield MVP | Judge Demo | May 2026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3E1CEAD-3BC5-415D-9D67-FD1EF64A3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51510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6758A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67179224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7273AA7-C6DA-45D4-B9E4-DC66A1A3D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AD8E92-E953-4F36-83ED-B8BBBB416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E9F8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9F8F"/>
                </a:solidFill>
                <a:latin typeface="Aptos"/>
                <a:ea typeface="Aptos"/>
                <a:cs typeface="Aptos"/>
              </a:rPr>
              <a:t>WHAT WE BUILT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03241A-2298-4F84-B8FA-0AA661CF6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8572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 working NetraShield MVP, not only a concept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5E264C-6858-4B9C-8249-115FF292C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19200"/>
            <a:ext cx="809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58A"/>
                </a:solidFill>
                <a:latin typeface="Aptos"/>
                <a:ea typeface="Aptos"/>
                <a:cs typeface="Aptos"/>
              </a:rPr>
              <a:t>The current repo contains backend, UI, Wazuh/OpenSearch connector path, triage, threat intel controls, case management, n8n workflow, docs, and demo assets.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A7D420-8A31-4EA8-9CD2-61CC438E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3238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65FBF2-F57A-433F-A5D0-099303DE1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571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B2B8B5-0CFB-4EFB-BF0A-6C5B7C40F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47850"/>
            <a:ext cx="2876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Auth + RBAC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99DF5F-1816-457E-A93D-829BC0A24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71700"/>
            <a:ext cx="28765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Admin, analyst, viewer roles with audit trail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23CBE8-0876-465D-A198-98E17D79D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676400"/>
            <a:ext cx="3238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A1209F-9F7B-4D06-AA1C-0391674F7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676400"/>
            <a:ext cx="571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2F6F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673306-C476-495C-A215-986D903F9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847850"/>
            <a:ext cx="2876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Connectors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3827CE-E496-4C6F-826C-16ABF0DC8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171700"/>
            <a:ext cx="28765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Wazuh API and OpenSearch health/fetch path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ED6303-6FA4-4193-B84F-410A41464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676400"/>
            <a:ext cx="3238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039AE5-64E0-4577-8363-888A8C1AD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676400"/>
            <a:ext cx="571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584FDC-C7F1-4719-8EBB-B8E728F4B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847850"/>
            <a:ext cx="2876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AI Triage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421A89-6F8F-4E9B-B9F6-253622FEC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71700"/>
            <a:ext cx="28765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Noise score, signal score, verdict, evidence, actions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6A2084-D4A0-43CE-A9A0-27C99ECD6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0400"/>
            <a:ext cx="3238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E7566E-3AF6-4402-AB28-D6E07C371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0400"/>
            <a:ext cx="571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5DD3"/>
          </a:solidFill>
          <a:ln xmlns:a="http://schemas.openxmlformats.org/drawingml/2006/main" w="0">
            <a:solidFill>
              <a:srgbClr val="6B5DD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94A374-0D03-41AD-AB73-65F6963C5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71850"/>
            <a:ext cx="2876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Threat Intel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EA8370-D91A-451B-BB24-AD5CC21E0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95700"/>
            <a:ext cx="28765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VirusTotal, AbuseIPDB, OTX, MISP, local IOC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AF6E6E-C63F-47ED-AF19-ABC1A099B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200400"/>
            <a:ext cx="3238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068310-B81E-46D7-B7D4-3D9C7305A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200400"/>
            <a:ext cx="571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A06B"/>
          </a:solidFill>
          <a:ln xmlns:a="http://schemas.openxmlformats.org/drawingml/2006/main" w="0">
            <a:solidFill>
              <a:srgbClr val="22A06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860A20-71E3-4A59-A3A0-68A2E5A89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371850"/>
            <a:ext cx="2876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Cases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9EA12AF-F45A-4871-969C-659327C27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695700"/>
            <a:ext cx="28765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Jira-style lifecycle, SLA, owner, resolution history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4C8737E-E0F7-4CC6-9938-0245E1DF9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200400"/>
            <a:ext cx="3238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1DA4A31-09A0-4300-AA98-2F3B3DE38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200400"/>
            <a:ext cx="571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A4A"/>
          </a:solidFill>
          <a:ln xmlns:a="http://schemas.openxmlformats.org/drawingml/2006/main" w="0">
            <a:solidFill>
              <a:srgbClr val="D94A4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4532375-23C7-4DE9-9146-48AFAB47B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371850"/>
            <a:ext cx="2876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SOAR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D9C5806-2F6D-4517-BAF5-C606F247E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695700"/>
            <a:ext cx="28765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n8n webhook and approval-gated high-impact actions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E1BED0-8FAF-4D88-8845-5AD6305C0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0">
                <a:solidFill>
                  <a:srgbClr val="8793A3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8793A3"/>
                </a:solidFill>
                <a:latin typeface="Aptos"/>
                <a:ea typeface="Aptos"/>
                <a:cs typeface="Aptos"/>
              </a:rPr>
              <a:t>NetraShield MVP | Judge Demo | May 2026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E50BAB1-72A3-4DF6-A1BB-226EC2171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51510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6758A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4397370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8782C2E-8020-4C9E-86FC-548D17AEB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97941F-0F35-4641-B72A-5717E259F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E9F8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9F8F"/>
                </a:solidFill>
                <a:latin typeface="Aptos"/>
                <a:ea typeface="Aptos"/>
                <a:cs typeface="Aptos"/>
              </a:rPr>
              <a:t>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C27E7E-34D8-4EDC-A899-D48CA2B61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8572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Wazuh-first today, SIEM-agnostic by design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3875E5-4F1A-4796-9674-9DA167A8D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19200"/>
            <a:ext cx="809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58A"/>
                </a:solidFill>
                <a:latin typeface="Aptos"/>
                <a:ea typeface="Aptos"/>
                <a:cs typeface="Aptos"/>
              </a:rPr>
              <a:t>Connectors normalize alerts into a common schema before AI, enrichment, cases, and SOAR.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4C06EA-9A6C-4161-AB5F-0ED6029AF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76500"/>
            <a:ext cx="1190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33A"/>
          </a:solidFill>
          <a:ln xmlns:a="http://schemas.openxmlformats.org/drawingml/2006/main" w="0">
            <a:solidFill>
              <a:srgbClr val="13233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99E8D6-A3FC-4462-98F8-9484D0F5E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90800"/>
            <a:ext cx="10001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Wazuh / OpenSearch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1DE88B-1E3A-449B-8BB4-D2CBEB155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78130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4D6"/>
          </a:solidFill>
          <a:ln xmlns:a="http://schemas.openxmlformats.org/drawingml/2006/main" w="0">
            <a:solidFill>
              <a:srgbClr val="B8C4D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855AC3-CDA2-4FDA-B370-402ADEA7C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476500"/>
            <a:ext cx="1190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2F6F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8CC7F2-D14A-4F0D-B550-527475D0F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590800"/>
            <a:ext cx="10001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Connector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1934EF-49D2-4944-9593-B206AF6AF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78130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4D6"/>
          </a:solidFill>
          <a:ln xmlns:a="http://schemas.openxmlformats.org/drawingml/2006/main" w="0">
            <a:solidFill>
              <a:srgbClr val="B8C4D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8DD39E-2253-4285-A82C-791CD7842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476500"/>
            <a:ext cx="1190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66893F-7270-4ACD-BD6A-CB0E761F0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590800"/>
            <a:ext cx="10001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Normalized Schema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77156C-C48F-43F0-822C-F18593622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78130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4D6"/>
          </a:solidFill>
          <a:ln xmlns:a="http://schemas.openxmlformats.org/drawingml/2006/main" w="0">
            <a:solidFill>
              <a:srgbClr val="B8C4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6A97D4-034A-4B6A-8053-AF1BCFF1B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476500"/>
            <a:ext cx="1190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8E881E-22F7-44FC-8FC5-F34C9703B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590800"/>
            <a:ext cx="10001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Noise Engine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C3C94C-2407-4A9E-A499-CE5E3F37B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8130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4D6"/>
          </a:solidFill>
          <a:ln xmlns:a="http://schemas.openxmlformats.org/drawingml/2006/main" w="0">
            <a:solidFill>
              <a:srgbClr val="B8C4D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66C351-9866-4044-BD15-36653B681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476500"/>
            <a:ext cx="1190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5DD3"/>
          </a:solidFill>
          <a:ln xmlns:a="http://schemas.openxmlformats.org/drawingml/2006/main" w="0">
            <a:solidFill>
              <a:srgbClr val="6B5DD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7BF47A-4B44-4598-8B44-A6778A3C3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590800"/>
            <a:ext cx="10001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LLM / Ollama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475CB9-2C2F-4093-83C7-2C8489594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78130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4D6"/>
          </a:solidFill>
          <a:ln xmlns:a="http://schemas.openxmlformats.org/drawingml/2006/main" w="0">
            <a:solidFill>
              <a:srgbClr val="B8C4D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B2BD52-7CB6-4AE6-9A47-EAB511625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476500"/>
            <a:ext cx="1190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A06B"/>
          </a:solidFill>
          <a:ln xmlns:a="http://schemas.openxmlformats.org/drawingml/2006/main" w="0">
            <a:solidFill>
              <a:srgbClr val="22A06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5BC45A-3D2F-491A-8B32-DED42212C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590800"/>
            <a:ext cx="10001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Cases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2505B0-8CDE-48BC-88AC-EFEEDB577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78130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4D6"/>
          </a:solidFill>
          <a:ln xmlns:a="http://schemas.openxmlformats.org/drawingml/2006/main" w="0">
            <a:solidFill>
              <a:srgbClr val="B8C4D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636B2A-D6C2-4E22-A105-BFBEAD4CD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476500"/>
            <a:ext cx="1190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A4A"/>
          </a:solidFill>
          <a:ln xmlns:a="http://schemas.openxmlformats.org/drawingml/2006/main" w="0">
            <a:solidFill>
              <a:srgbClr val="D94A4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D6FA105-0DAE-4820-9981-811F3728F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590800"/>
            <a:ext cx="10001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n8n SOAR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71CBCEC-FDE2-4BA4-915C-B3992D2CC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76700"/>
            <a:ext cx="3048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9093975-AAEB-4A27-B816-3BB1208F5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76700"/>
            <a:ext cx="571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2F6FE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4B1E0A-A6B1-48CE-AB1E-F14EE79F5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48150"/>
            <a:ext cx="2686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Replaceable SIEM layer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7B06FF7-C1DF-422E-BD2E-4D092661E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72000"/>
            <a:ext cx="2686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Add Splunk, Sentinel, Elastic, QRadar, or EDR connectors without rewriting triage logic.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381ADEB-4C47-43EB-992A-4F55C6716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076700"/>
            <a:ext cx="3048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92D95BD-0394-4582-8130-C08631D1A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076700"/>
            <a:ext cx="571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74D6A9F-F9BF-44B8-AEB3-F57A72F34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248150"/>
            <a:ext cx="2686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Cost control layer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8A7D42E-7815-4775-8576-7AD3BDD85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572000"/>
            <a:ext cx="2686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Compact JSON, severity threshold, duplicate cache, local LLM fallback, stronger models only when justified.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28F2C07-8FD6-4FD2-B2D2-4EAA8BFAA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076700"/>
            <a:ext cx="3048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BC7948D-3CBF-4D3B-B616-14AC0A89F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076700"/>
            <a:ext cx="571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A06B"/>
          </a:solidFill>
          <a:ln xmlns:a="http://schemas.openxmlformats.org/drawingml/2006/main" w="0">
            <a:solidFill>
              <a:srgbClr val="22A06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04CC74C-75A7-48F7-80C9-35225C94C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248150"/>
            <a:ext cx="2686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SOC workflow layer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EA102D6-C1FA-4E0F-B61A-6836E3CF3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572000"/>
            <a:ext cx="2686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Every verdict can become a case, approval request, SOAR run, and audit log.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82AA28D-E18D-4CF1-89C8-85D57215A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0">
                <a:solidFill>
                  <a:srgbClr val="8793A3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8793A3"/>
                </a:solidFill>
                <a:latin typeface="Aptos"/>
                <a:ea typeface="Aptos"/>
                <a:cs typeface="Aptos"/>
              </a:rPr>
              <a:t>NetraShield MVP | Judge Demo | May 2026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4B1C43E-194F-4431-9923-B1EB749A5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51510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6758A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34016975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D053092-BC20-4269-8EEE-E91E99B0A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048A6B-97E2-44DE-877B-9D0036E2E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E9F8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9F8F"/>
                </a:solidFill>
                <a:latin typeface="Aptos"/>
                <a:ea typeface="Aptos"/>
                <a:cs typeface="Aptos"/>
              </a:rPr>
              <a:t>CORE DIFFERENTIATOR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53B8B2-6292-4A21-8DAC-8E00143F9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8572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Noise reduction is a pipeline, not one model call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88423D-1D97-46E0-9DA7-18C32CF34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19200"/>
            <a:ext cx="809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58A"/>
                </a:solidFill>
                <a:latin typeface="Aptos"/>
                <a:ea typeface="Aptos"/>
                <a:cs typeface="Aptos"/>
              </a:rPr>
              <a:t>The MVP reduces analyst load before using expensive AI and records why each alert was suppressed, grouped, escalated, or reviewed.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71C449-B8ED-45A6-B910-E9B69DFC6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19240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F0E065-D4BD-4317-9BE7-531206720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2F6F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AA45FC-A414-46FA-AC0E-7BBFF2743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81200"/>
            <a:ext cx="1562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1. Normalize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96D11D-6A1E-4594-8649-EFAF694DF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05050"/>
            <a:ext cx="15621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Rule, asset, user, MITRE, network, raw evidence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326FFD-2B9C-44E4-8687-57BB59F57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809750"/>
            <a:ext cx="19240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35E14D-C995-4133-BECD-3FE412D87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80975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A2BAC3-5A29-4E92-BF8B-3D04FFFD1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1981200"/>
            <a:ext cx="1562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2. Deduplicate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E4E736-84CE-4404-A7B2-557D66838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305050"/>
            <a:ext cx="15621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Correlation key and repeat grouping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D22C1B-C388-490C-845B-E8A17E2CE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809750"/>
            <a:ext cx="19240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102A54-FD74-49C6-8F64-FC1F1C49A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80975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4AACA1-21C0-482C-9915-5B72A873A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1981200"/>
            <a:ext cx="1562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3. Score Signal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DCE9AE-2226-4DE3-95CB-188B6294E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305050"/>
            <a:ext cx="15621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Severity, entity history, IOC, MITRE, source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1B83C6-7287-4D72-8E6B-4B87670B6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809750"/>
            <a:ext cx="19240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298E52-2561-463C-95CB-80CF0BB4A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80975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5DD3"/>
          </a:solidFill>
          <a:ln xmlns:a="http://schemas.openxmlformats.org/drawingml/2006/main" w="0">
            <a:solidFill>
              <a:srgbClr val="6B5DD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4D9AA2-0739-4A1F-AB3C-064BCCA8E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1981200"/>
            <a:ext cx="1562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4. Cheap AI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4BC860-A772-440F-B0B3-DF9D43913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305050"/>
            <a:ext cx="15621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Only compact context, JSON-only answer, cache repeats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4BB7AC-AF56-49DC-8967-63BAFCB05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809750"/>
            <a:ext cx="19240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73E6222-EE3B-41FB-BB6D-5F32D9B33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80975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A06B"/>
          </a:solidFill>
          <a:ln xmlns:a="http://schemas.openxmlformats.org/drawingml/2006/main" w="0">
            <a:solidFill>
              <a:srgbClr val="22A06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8D8958-BDE1-4199-BEE9-5442DEB86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1981200"/>
            <a:ext cx="1562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5. Case Route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559414-3282-4777-ACD6-DC49A6CEC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305050"/>
            <a:ext cx="15621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Suppress, review, escalate, create case, trigger SOAR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1016FAF-00E0-488F-ADC0-1DAD239AA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429125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6"/>
          </a:solidFill>
          <a:ln xmlns:a="http://schemas.openxmlformats.org/drawingml/2006/main" w="0">
            <a:solidFill>
              <a:srgbClr val="E8EEF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226DCFA-1E58-441D-88E0-45FD73CC5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429125"/>
            <a:ext cx="106299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A4A"/>
          </a:solidFill>
          <a:ln xmlns:a="http://schemas.openxmlformats.org/drawingml/2006/main" w="0">
            <a:solidFill>
              <a:srgbClr val="D94A4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FC7E686-B041-48AA-8B1D-E0DC9E8FE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00550"/>
            <a:ext cx="13811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172"/>
                </a:solidFill>
                <a:latin typeface="Aptos"/>
                <a:ea typeface="Aptos"/>
                <a:cs typeface="Aptos"/>
              </a:rPr>
              <a:t>Raw alert noise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D5BA7E0-3E52-4C80-8D75-5C16EC956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810125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6"/>
          </a:solidFill>
          <a:ln xmlns:a="http://schemas.openxmlformats.org/drawingml/2006/main" w="0">
            <a:solidFill>
              <a:srgbClr val="E8EEF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CA2D919-88BE-4D7A-BD08-AC51C3A81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810125"/>
            <a:ext cx="32480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5A6A88B-487B-41F3-93D6-38D6CFE9A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781550"/>
            <a:ext cx="13811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172"/>
                </a:solidFill>
                <a:latin typeface="Aptos"/>
                <a:ea typeface="Aptos"/>
                <a:cs typeface="Aptos"/>
              </a:rPr>
              <a:t>Grouped / low priority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59A7D67-BD2C-4140-AFC9-B6BC05C0B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191125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6"/>
          </a:solidFill>
          <a:ln xmlns:a="http://schemas.openxmlformats.org/drawingml/2006/main" w="0">
            <a:solidFill>
              <a:srgbClr val="E8EEF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1122699-84D9-410C-9664-9FC57C3D6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191125"/>
            <a:ext cx="460629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A06B"/>
          </a:solidFill>
          <a:ln xmlns:a="http://schemas.openxmlformats.org/drawingml/2006/main" w="0">
            <a:solidFill>
              <a:srgbClr val="22A06B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DA1BAF5-4BFD-48B2-A2B5-6754B499E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162550"/>
            <a:ext cx="13811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172"/>
                </a:solidFill>
                <a:latin typeface="Aptos"/>
                <a:ea typeface="Aptos"/>
                <a:cs typeface="Aptos"/>
              </a:rPr>
              <a:t>Target queue reduction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00E862E-F69A-444A-8793-8AC3392BD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343400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Target MVP outcome: 70-80% fewer L1 items for repetitive categories after analyst validation and tuning.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CA0FEDA-11CE-4DA5-B9D1-9ED074444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0">
                <a:solidFill>
                  <a:srgbClr val="8793A3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8793A3"/>
                </a:solidFill>
                <a:latin typeface="Aptos"/>
                <a:ea typeface="Aptos"/>
                <a:cs typeface="Aptos"/>
              </a:rPr>
              <a:t>NetraShield MVP | Judge Demo | May 2026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0DD117B-4271-4B39-8343-13C76F525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51510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6758A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35405626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06844FB-819B-420B-B2E0-87DE0603C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72D2D2-B00F-4830-9124-C961D52F2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E9F8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9F8F"/>
                </a:solidFill>
                <a:latin typeface="Aptos"/>
                <a:ea typeface="Aptos"/>
                <a:cs typeface="Aptos"/>
              </a:rPr>
              <a:t>LIVE DEMO 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6EC9F0-F2B3-486B-82D3-4D9F36E23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8572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Show the tool working in 6 minutes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0D8146-A295-45D9-9803-1A7ABAF7B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19200"/>
            <a:ext cx="809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58A"/>
                </a:solidFill>
                <a:latin typeface="Aptos"/>
                <a:ea typeface="Aptos"/>
                <a:cs typeface="Aptos"/>
              </a:rPr>
              <a:t>Use the same server: Wazuh + n8n + NetraShield. Keep the story on alert clarity and analyst time saved.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7672A0-1152-4E7B-B87D-AF4B67CC3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049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20F1E9-4735-44B8-86E0-8D5C06B88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38300"/>
            <a:ext cx="533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Login as admin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E7EB48-07C5-47F3-9FF9-14CD409C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050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D3F3F2-526B-41F2-A2AF-A544625E6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38350"/>
            <a:ext cx="533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Check Wazuh + OpenSearch health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79CB80-5489-4CBD-8FC1-61302426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050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C7CCAE-F604-4C79-9D43-6E8412D49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38400"/>
            <a:ext cx="533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Fetch live Wazuh alerts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F0F0B7-A28C-4429-BD96-0A6933EC2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051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FDA418-12E3-470B-9824-9FBC2FA5E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38450"/>
            <a:ext cx="533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Run sync with triage=true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F7F1F1-10BA-4139-910B-584F19048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05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761E57-7AAE-45BB-BA9B-3F5AB2A10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38500"/>
            <a:ext cx="533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Open triage detail: evidence, confidence, suppression reason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74A5AC-87A4-4F23-A29D-542221377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052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4D5530-1619-4FF3-B006-53A4974E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38550"/>
            <a:ext cx="533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Run threat intel enrichment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CD4EF6-3E68-4CF1-A810-AD0107CBE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052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7522C9-198C-4FCA-A3A4-D627EB5C8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38600"/>
            <a:ext cx="533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Raise case and assign owner/SLA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92A04E-A8C2-4FAA-AF52-A4B165B70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053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69DE01-4D21-4F43-AB8A-B14D84A90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38650"/>
            <a:ext cx="533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Trigger n8n dry-run SOAR workflow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3DE474-0CBA-4618-BD2D-03C47848F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9053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567650-86F7-47D6-8F8A-745F070E2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38700"/>
            <a:ext cx="533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Show executive dashboard metrics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042551-2405-4E30-9941-D87C92327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19250"/>
            <a:ext cx="34290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FD1E100-5FDF-4C24-A877-186FC66C8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790700"/>
            <a:ext cx="247650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F7EF"/>
          </a:solidFill>
          <a:ln xmlns:a="http://schemas.openxmlformats.org/drawingml/2006/main" w="0">
            <a:solidFill>
              <a:srgbClr val="E5F7E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3B754D5-F02B-4193-850A-D7975F885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86000"/>
            <a:ext cx="1485900" cy="1485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E2C8487-BD2A-4BFD-8F42-85C8337A0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38450"/>
            <a:ext cx="2133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70-80%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775EAC8-FD72-4C95-A974-2DB836CC9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14325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6758A"/>
                </a:solidFill>
                <a:latin typeface="Aptos"/>
                <a:ea typeface="Aptos"/>
                <a:cs typeface="Aptos"/>
              </a:rPr>
              <a:t>target queue reduction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6B3CCC6-3BA4-4244-BABD-A3680A461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76250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58A"/>
                </a:solidFill>
                <a:latin typeface="Aptos"/>
                <a:ea typeface="Aptos"/>
                <a:cs typeface="Aptos"/>
              </a:rPr>
              <a:t>Make clear this is category-dependent and improves with feedback.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48A0257-AB16-49FB-A702-148F90D29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0">
                <a:solidFill>
                  <a:srgbClr val="8793A3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8793A3"/>
                </a:solidFill>
                <a:latin typeface="Aptos"/>
                <a:ea typeface="Aptos"/>
                <a:cs typeface="Aptos"/>
              </a:rPr>
              <a:t>NetraShield MVP | Judge Demo | May 2026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D385F25-2810-4A49-B1C8-8092B8963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51510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6758A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96932438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FF54DE1-6060-4476-B030-1C29DE8EF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529403-DB1A-493B-8C81-145BF6E67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E9F8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9F8F"/>
                </a:solidFill>
                <a:latin typeface="Aptos"/>
                <a:ea typeface="Aptos"/>
                <a:cs typeface="Aptos"/>
              </a:rPr>
              <a:t>COST ADVANTAGE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F80D41-537C-4166-879F-01ABD9792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8572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Use AI only where it changes analyst outcome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91CB94-267D-488F-99A5-AA33AEE4D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19200"/>
            <a:ext cx="809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58A"/>
                </a:solidFill>
                <a:latin typeface="Aptos"/>
                <a:ea typeface="Aptos"/>
                <a:cs typeface="Aptos"/>
              </a:rPr>
              <a:t>The product is designed around token discipline: local model first for bulk triage, cloud mini model for structured reasoning, cache repeated alerts.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A41ADC-BFFB-4338-882A-F8C57ACB3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238125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B5BC48-8498-4DDA-9DEE-A6234EA61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19275"/>
            <a:ext cx="2038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E9F8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E9F8F"/>
                </a:solidFill>
                <a:latin typeface="Aptos"/>
                <a:ea typeface="Aptos"/>
                <a:cs typeface="Aptos"/>
              </a:rPr>
              <a:t>Local first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E6CAC8-3AE0-49F2-82EC-677EB7480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172"/>
                </a:solidFill>
                <a:latin typeface="Aptos"/>
                <a:ea typeface="Aptos"/>
                <a:cs typeface="Aptos"/>
              </a:rPr>
              <a:t>Ollama/Mistral for private bulk triage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7613D9-1881-4DF6-80DB-66C753AD9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657350"/>
            <a:ext cx="238125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81BE74-DD3B-4B3C-9CC8-8C6958CFA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819275"/>
            <a:ext cx="2038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2F6FED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2F6FED"/>
                </a:solidFill>
                <a:latin typeface="Aptos"/>
                <a:ea typeface="Aptos"/>
                <a:cs typeface="Aptos"/>
              </a:rPr>
              <a:t>Tiny prompts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83C35F-8776-4C9E-8105-63E7D2DB5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209800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172"/>
                </a:solidFill>
                <a:latin typeface="Aptos"/>
                <a:ea typeface="Aptos"/>
                <a:cs typeface="Aptos"/>
              </a:rPr>
              <a:t>Normalized fields, no full raw log dumps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6D155D-88FA-4615-9C0B-CC9C2B748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657350"/>
            <a:ext cx="238125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D841A3-5AA1-4B52-A874-2F91CBCC5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19275"/>
            <a:ext cx="2038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22A06B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22A06B"/>
                </a:solidFill>
                <a:latin typeface="Aptos"/>
                <a:ea typeface="Aptos"/>
                <a:cs typeface="Aptos"/>
              </a:rPr>
              <a:t>Cache hits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70B279-0802-4A88-A7EB-FC6C114AF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09800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172"/>
                </a:solidFill>
                <a:latin typeface="Aptos"/>
                <a:ea typeface="Aptos"/>
                <a:cs typeface="Aptos"/>
              </a:rPr>
              <a:t>Repeated alerts avoid repeated model calls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0237B9-48B7-41A4-8E14-E2CD95602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657350"/>
            <a:ext cx="238125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15CB24-9BCF-4561-8025-23607597E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1819275"/>
            <a:ext cx="2038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Escalate only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08A641-098C-43B4-869F-5A9E23276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209800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172"/>
                </a:solidFill>
                <a:latin typeface="Aptos"/>
                <a:ea typeface="Aptos"/>
                <a:cs typeface="Aptos"/>
              </a:rPr>
              <a:t>Stronger model for demo-critical/high-risk summaries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1A8F6C-08F1-441B-AB9F-F29391C90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19500"/>
            <a:ext cx="8953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CE3AE1-BA13-49E1-9390-62BBF2CC8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86200"/>
            <a:ext cx="819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Example economics for SMB SOC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882A13-93FB-4E08-8777-FD846DDB8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30530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If 100k monthly alerts become 20k compact triage calls after deterministic filters and cache, cloud AI usage can stay in a small operating budget while local LLM handles the long tail.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1D767A-BBC9-4E78-818B-6857EB7D4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905375"/>
            <a:ext cx="819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58A"/>
                </a:solidFill>
                <a:latin typeface="Aptos"/>
                <a:ea typeface="Aptos"/>
                <a:cs typeface="Aptos"/>
              </a:rPr>
              <a:t>Pricing source: OpenAI API pricing page for small model/token-cost planning.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BE1135-384B-461D-9178-39C95F8D3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0">
                <a:solidFill>
                  <a:srgbClr val="8793A3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8793A3"/>
                </a:solidFill>
                <a:latin typeface="Aptos"/>
                <a:ea typeface="Aptos"/>
                <a:cs typeface="Aptos"/>
              </a:rPr>
              <a:t>NetraShield MVP | Judge Demo | May 2026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DB1135B-BCD5-4D07-B480-CEA55826D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51510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6758A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41647945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0CA4A3D-DA71-476C-9684-CDA715A85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68EE76-812B-4568-89AA-E06995DC4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E9F8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9F8F"/>
                </a:solidFill>
                <a:latin typeface="Aptos"/>
                <a:ea typeface="Aptos"/>
                <a:cs typeface="Aptos"/>
              </a:rPr>
              <a:t>PRIVACY AND COMPLIANCE WEDGE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770E8E-BA64-43EC-86C3-BFC7720F4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8572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Security monitoring without exporting everything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918A8C-A2C9-4CD6-B3F7-D6C20B542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19200"/>
            <a:ext cx="809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58A"/>
                </a:solidFill>
                <a:latin typeface="Aptos"/>
                <a:ea typeface="Aptos"/>
                <a:cs typeface="Aptos"/>
              </a:rPr>
              <a:t>NetraShield is positioned for organizations that need evidence, monitoring, and privacy-aware workflows at startup-friendly cost.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DFFA07-10EA-44BC-8E8B-1E66128B7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7640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44DB77-5CD9-454F-B332-1385B5E86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76400"/>
            <a:ext cx="57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4F4EAE-3249-4453-B380-5A9704174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847850"/>
            <a:ext cx="2781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DPDP-ready thinking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BCA3BB-8078-4EAC-B2C3-5B1B366EC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71700"/>
            <a:ext cx="27813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Minimize external data sharing; send only public IOCs/hashes to threat intel and compact alert context to LLMs.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811473-2CD1-4E1F-BBCA-1F0F1CB7B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67640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86F4DA-D4CD-4350-9C2C-55475FF2F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676400"/>
            <a:ext cx="57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2F6F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284422-863F-4EF0-9DF1-B3CC97A04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1847850"/>
            <a:ext cx="2781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ISO 27001 fit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58FFFC-D698-4170-B866-115E77AB3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2171700"/>
            <a:ext cx="27813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Centralized logging, monitoring activity evidence, incident history, access control, and audit logs.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E8B821-3935-4374-AF5B-0A5AA9664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7640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C23E4D-0E63-4211-9308-8AB0D0369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76400"/>
            <a:ext cx="57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A06B"/>
          </a:solidFill>
          <a:ln xmlns:a="http://schemas.openxmlformats.org/drawingml/2006/main" w="0">
            <a:solidFill>
              <a:srgbClr val="22A06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27A56F-BE17-4DF7-903B-A6F8E753D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847850"/>
            <a:ext cx="2781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Self-hostable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B4BB2A-0C4E-4D18-99C5-A0343A77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171700"/>
            <a:ext cx="27813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Run Wazuh, NetraShield, n8n, SQLite/Postgres, and Ollama on controlled infrastructure.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C13CD3-A5E8-48E5-8073-03862EFA2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00500"/>
            <a:ext cx="9334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6"/>
          </a:solidFill>
          <a:ln xmlns:a="http://schemas.openxmlformats.org/drawingml/2006/main" w="9525">
            <a:solidFill>
              <a:srgbClr val="F9D78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FBD778-7CA1-48E5-9C43-9037EC2A1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267200"/>
            <a:ext cx="8763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Compliance story for judges: not “replace compliance tooling”, but make SIEM monitoring and incident evidence affordable for smaller Indian businesses.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FFEB57-F25C-47F8-B21D-C5B69468C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0">
                <a:solidFill>
                  <a:srgbClr val="8793A3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8793A3"/>
                </a:solidFill>
                <a:latin typeface="Aptos"/>
                <a:ea typeface="Aptos"/>
                <a:cs typeface="Aptos"/>
              </a:rPr>
              <a:t>NetraShield MVP | Judge Demo | May 2026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402865-1A8B-4843-88BF-6F84D058F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51510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6758A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18835041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30793A7-EA9E-4346-BF6C-053B8348A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0ADB4D-974E-4572-9E23-4C1602B03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E9F8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9F8F"/>
                </a:solidFill>
                <a:latin typeface="Aptos"/>
                <a:ea typeface="Aptos"/>
                <a:cs typeface="Aptos"/>
              </a:rPr>
              <a:t>COMMERCIAL MVP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BEF2C4-15E6-46C5-AADD-B30DBF0EF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8572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Low-cost security operations layer for the underserved market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410A9F-25F0-48E1-9D02-26B1D1339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19200"/>
            <a:ext cx="809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58A"/>
                </a:solidFill>
                <a:latin typeface="Aptos"/>
                <a:ea typeface="Aptos"/>
                <a:cs typeface="Aptos"/>
              </a:rPr>
              <a:t>Start with Wazuh users, then expand to SIEM-agnostic connectors and MSSP multi-tenant operation.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50A514-9BF6-44E8-A41B-8188A2E75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24765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4B7D84-697E-4D45-BD3B-A14BC44AB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571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2F6F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86215C-E1A4-4546-BC8C-F46B2B185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66900"/>
            <a:ext cx="2114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Community / Lab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459591-FE74-4582-B623-9953B7448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90750"/>
            <a:ext cx="211455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Self-hosted, Wazuh connector, offline triage, local IOC, basic n8n workflows.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55FCF3-66BF-4211-8318-C42DDDF9A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695450"/>
            <a:ext cx="24765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4373B2-41A4-40BE-91AB-0A4633D79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695450"/>
            <a:ext cx="571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545FBA-7777-4DA4-90B6-489FAFE8E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1866900"/>
            <a:ext cx="2114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SME Pro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04690D-E65E-4A98-8C6F-86814247D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190750"/>
            <a:ext cx="211455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Cloud mini model, threat intel, case SLA, dashboards, compliance reports, support.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7D1616-3911-4B86-8903-601F48E98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695450"/>
            <a:ext cx="24765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89AD54-693A-41B0-BDA0-061047C5B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695450"/>
            <a:ext cx="571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35594C-6E8A-46C9-A81C-740F220C3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866900"/>
            <a:ext cx="2114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MSSP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B952E3-56B1-454D-B1D0-D6C4E835A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190750"/>
            <a:ext cx="211455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Multi-tenant cases, customer workspaces, SIEM connector pack, playbook library.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B1583D-2E71-42BF-B903-ACDEF48C6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695450"/>
            <a:ext cx="2000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57BD58-3D1B-427B-8F0E-6CB5775C5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695450"/>
            <a:ext cx="571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5DD3"/>
          </a:solidFill>
          <a:ln xmlns:a="http://schemas.openxmlformats.org/drawingml/2006/main" w="0">
            <a:solidFill>
              <a:srgbClr val="6B5DD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1A2BC2-EEFE-4FAB-B5F9-B2C61E74A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866900"/>
            <a:ext cx="1638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Enterprise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DF2AAB-5C07-4AB8-BB00-EFA2581F5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190750"/>
            <a:ext cx="16383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Postgres, SSO, HA, custom connectors, approval governance.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531BE2-F79A-4955-AE2D-8A623445B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434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A06B"/>
          </a:solidFill>
          <a:ln xmlns:a="http://schemas.openxmlformats.org/drawingml/2006/main" w="0">
            <a:solidFill>
              <a:srgbClr val="22A06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CA9F9F-B1D3-490D-8BA0-1B4CF8433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476750"/>
            <a:ext cx="857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Pricing thesis: software license + customer-owned infrastructure + pay-as-you-go AI token usage.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E2C9D2-76F7-4E3F-85B2-E2D77D426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434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A06B"/>
          </a:solidFill>
          <a:ln xmlns:a="http://schemas.openxmlformats.org/drawingml/2006/main" w="0">
            <a:solidFill>
              <a:srgbClr val="22A06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4A637A7-8006-49DE-A7D2-51A72BD3E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876800"/>
            <a:ext cx="857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Value metric: analyst queue reduction, time-to-triage, and avoided enterprise SOAR/SIEM AI premium.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BAF2D5-3530-4849-BAA5-C24D4797F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43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A06B"/>
          </a:solidFill>
          <a:ln xmlns:a="http://schemas.openxmlformats.org/drawingml/2006/main" w="0">
            <a:solidFill>
              <a:srgbClr val="22A06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0AEE17-8CB2-455B-B908-8F087FAA4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276850"/>
            <a:ext cx="857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Pilot target: one Wazuh lab, one SME/startup SOC, one MSSP analyst workflow.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0555153-65AD-4413-B851-B6E490C0E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0">
                <a:solidFill>
                  <a:srgbClr val="8793A3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8793A3"/>
                </a:solidFill>
                <a:latin typeface="Aptos"/>
                <a:ea typeface="Aptos"/>
                <a:cs typeface="Aptos"/>
              </a:rPr>
              <a:t>NetraShield MVP | Judge Demo | May 2026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FD2E09F-5DFB-422D-99B3-1782ED97E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51510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6758A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98829946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10E2194-30B0-4875-9FDA-53E094FF1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6A543B-F67F-4089-9DD6-2412A0B96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E9F8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9F8F"/>
                </a:solidFill>
                <a:latin typeface="Aptos"/>
                <a:ea typeface="Aptos"/>
                <a:cs typeface="Aptos"/>
              </a:rPr>
              <a:t>PRODUCT LIFELINE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7F77A9-EB15-4B74-BEBD-F95662D6D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8572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From 7-day MVP to pilot-ready product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8390BE-60BD-4A16-B7D9-3EEA0F51F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19200"/>
            <a:ext cx="809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58A"/>
                </a:solidFill>
                <a:latin typeface="Aptos"/>
                <a:ea typeface="Aptos"/>
                <a:cs typeface="Aptos"/>
              </a:rPr>
              <a:t>The MVP proves the core loop; next work hardens deployment, governance, SIEM coverage, and measurable accuracy.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D858C8-97DF-4DD5-BBF7-5522939AD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22860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80252C-FE53-4399-92D8-03DB99ABE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571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F4043A-A707-45DD-A050-8C3E29C61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981200"/>
            <a:ext cx="1924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Now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B68B1D-DB9A-48D3-B362-B0E6E7BC3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05050"/>
            <a:ext cx="19240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Clone, connect Wazuh, fetch alerts, triage, enrich, case, n8n dry-run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F6EAD3-3EB4-48F4-AB94-B2DC08049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809750"/>
            <a:ext cx="22860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E7E04E-9A1D-4440-90BF-9D5112658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809750"/>
            <a:ext cx="571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2F6F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782671-2D68-4129-9FD4-3C608E2CF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1981200"/>
            <a:ext cx="1924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30 days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AFA30C-54AD-43F4-8C8A-B6CFBD4AB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305050"/>
            <a:ext cx="19240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Postgres, HTTPS, Docker Compose, stronger RBAC, report exports, local model tuning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4D4111-7A3A-45ED-BD05-C719DB26D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09750"/>
            <a:ext cx="22860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E6F30D-30CE-4C01-9DA6-D5AB956E1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09750"/>
            <a:ext cx="571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D0D612-48DE-4204-B852-90F9E675C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981200"/>
            <a:ext cx="1924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90 days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5B063D-E51E-4D24-806A-A9426D605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305050"/>
            <a:ext cx="19240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Splunk/Sentinel/Elastic connectors, multi-tenant MSSP, playbook marketplace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F0968B-DC19-41EF-85D2-B568092AC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09750"/>
            <a:ext cx="22860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C0D808-8DEA-4579-9A0F-CC042E0D1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09750"/>
            <a:ext cx="571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A06B"/>
          </a:solidFill>
          <a:ln xmlns:a="http://schemas.openxmlformats.org/drawingml/2006/main" w="0">
            <a:solidFill>
              <a:srgbClr val="22A06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752F14-C2FE-40CB-8038-B2078E5A6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981200"/>
            <a:ext cx="1924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6 months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D7AC6F-9EC0-474E-9E4D-48158F327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305050"/>
            <a:ext cx="19240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Closed-loop learning, customer-specific baselines, compliance evidence packs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118BC4-767A-444F-A40A-6C1162AE6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953000"/>
            <a:ext cx="9810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The moat is not only UI. It is SOC-specific signal scoring, feedback memory, privacy-first enrichment, and operational workflow evidence.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FC373A5-AD76-40BF-94C7-B9B4252E7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0">
                <a:solidFill>
                  <a:srgbClr val="8793A3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8793A3"/>
                </a:solidFill>
                <a:latin typeface="Aptos"/>
                <a:ea typeface="Aptos"/>
                <a:cs typeface="Aptos"/>
              </a:rPr>
              <a:t>NetraShield MVP | Judge Demo | May 2026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A642BE-7597-42AA-A2C5-EEF746E87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51510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6758A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632183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55BE5D3-E2E0-4ECD-AD68-C36DD210C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8A69FA-F96C-4229-82BE-1C40BD93F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E9F8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9F8F"/>
                </a:solidFill>
                <a:latin typeface="Aptos"/>
                <a:ea typeface="Aptos"/>
                <a:cs typeface="Aptos"/>
              </a:rPr>
              <a:t>JUDGE ASK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E1A144-6FA5-4644-9796-6623E3A5C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8572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Validate the pain, then pilot the 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B0536D-8932-4BB6-8457-D5641A254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19200"/>
            <a:ext cx="809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58A"/>
                </a:solidFill>
                <a:latin typeface="Aptos"/>
                <a:ea typeface="Aptos"/>
                <a:cs typeface="Aptos"/>
              </a:rPr>
              <a:t>The strongest next step is a short pilot with real alert categories and analyst feedback.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BD7733-E0B7-44ED-A929-8F448A35D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14500"/>
            <a:ext cx="2476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8DA90C-6911-4138-8D3B-F16969115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764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2F6FED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2F6FED"/>
                </a:solidFill>
                <a:latin typeface="Aptos"/>
                <a:ea typeface="Aptos"/>
                <a:cs typeface="Aptos"/>
              </a:rPr>
              <a:t>Pilot data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7CB982-04EE-4B53-B08A-4698998F8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66950"/>
            <a:ext cx="2133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172"/>
                </a:solidFill>
                <a:latin typeface="Aptos"/>
                <a:ea typeface="Aptos"/>
                <a:cs typeface="Aptos"/>
              </a:rPr>
              <a:t>1-2 weeks of Wazuh alert categories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B42B16-6F95-49DA-A09D-5BA7D9911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714500"/>
            <a:ext cx="2476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AFDFDA-CD6A-490F-9859-769BFE7C9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18764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22A06B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22A06B"/>
                </a:solidFill>
                <a:latin typeface="Aptos"/>
                <a:ea typeface="Aptos"/>
                <a:cs typeface="Aptos"/>
              </a:rPr>
              <a:t>Success metric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475AA9-8A08-4912-997E-866846926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266950"/>
            <a:ext cx="2133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172"/>
                </a:solidFill>
                <a:latin typeface="Aptos"/>
                <a:ea typeface="Aptos"/>
                <a:cs typeface="Aptos"/>
              </a:rPr>
              <a:t>70%+ queue reduction on repetitive noise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5301EF-E1A4-4B4F-8A58-FF5D1F4D0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714500"/>
            <a:ext cx="2476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F61B23-EAC1-4B53-8B28-BB5BFC12E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8764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Human gate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0D0BA3-C208-4EC5-B691-AFB18FF72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266950"/>
            <a:ext cx="2133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172"/>
                </a:solidFill>
                <a:latin typeface="Aptos"/>
                <a:ea typeface="Aptos"/>
                <a:cs typeface="Aptos"/>
              </a:rPr>
              <a:t>Analyst validates suppression and escalation rules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F4D5F0-CCE5-4D36-B86F-47DF301AD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714500"/>
            <a:ext cx="2476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639BCD-BED8-4211-9A3F-C50D3F19A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18764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E9F8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E9F8F"/>
                </a:solidFill>
                <a:latin typeface="Aptos"/>
                <a:ea typeface="Aptos"/>
                <a:cs typeface="Aptos"/>
              </a:rPr>
              <a:t>Outcome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F52D7B-A8E1-4734-A88A-A53D6496B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266950"/>
            <a:ext cx="2133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172"/>
                </a:solidFill>
                <a:latin typeface="Aptos"/>
                <a:ea typeface="Aptos"/>
                <a:cs typeface="Aptos"/>
              </a:rPr>
              <a:t>Lower L1 workload and clearer L2 cases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08F756-B884-48C0-9FAC-BB677BA42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714750"/>
            <a:ext cx="9620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0BAAFD-8DA9-4A13-917E-C90ACF4C2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714750"/>
            <a:ext cx="571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89F4C8-9290-45E0-805E-86A60134B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886200"/>
            <a:ext cx="9258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Final pitch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5D897D-7CE8-4CAB-8D4C-640BC7394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210050"/>
            <a:ext cx="92583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NetraShield makes open-source SIEM more usable for cost-sensitive teams by turning noisy alerts into explainable, auditable, action-ready cases with low AI spend.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7154D1-15E1-45AC-A03D-DB8FBD0AE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0">
                <a:solidFill>
                  <a:srgbClr val="8793A3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8793A3"/>
                </a:solidFill>
                <a:latin typeface="Aptos"/>
                <a:ea typeface="Aptos"/>
                <a:cs typeface="Aptos"/>
              </a:rPr>
              <a:t>NetraShield MVP | Judge Demo | May 2026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5A12B4-C326-4FC6-AB46-F813DA4AA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51510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6758A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679721017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799F6A4-4A29-442E-88DF-6B1899A43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FD00EA-EC7B-4789-838C-8937EAD1E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E9F8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9F8F"/>
                </a:solidFill>
                <a:latin typeface="Aptos"/>
                <a:ea typeface="Aptos"/>
                <a:cs typeface="Aptos"/>
              </a:rPr>
              <a:t>SOURCES AND DEMO ASSETS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2D0C2F-62D6-47BA-8BA3-C3FEF21BE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8572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Evidence base used for the judge story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2433A3-CBEB-43F2-868B-9ADBB2F0E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19200"/>
            <a:ext cx="809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58A"/>
                </a:solidFill>
                <a:latin typeface="Aptos"/>
                <a:ea typeface="Aptos"/>
                <a:cs typeface="Aptos"/>
              </a:rPr>
              <a:t>All repo code and docs are pushed to GitHub; external references are used only for market/compliance/context framing.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084E61-A765-4DE0-B46F-27E5A69C7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81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B335A4-3978-464A-9511-346226444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14500"/>
            <a:ext cx="933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GitHub: https://github.com/cybermukesh/ai-soc-soar-mvp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4CAD59-EDB3-4B4A-91BF-49632ACA8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383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FB81A2-C1EE-4BBF-B435-E8A755720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171700"/>
            <a:ext cx="933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Wazuh docs: https://documentation.wazuh.com/current/getting-started/index.html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AE7E56-E11C-4286-9901-820C060D3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55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4ED1D2-2114-4106-80B4-1102BEB60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628900"/>
            <a:ext cx="933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n8n Docker docs: https://docs.n8n.io/hosting/installation/docker/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7675BB-75AD-4125-BB51-AC1D52551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527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3ABB06-159A-41F2-80D0-C7F79CF1C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086100"/>
            <a:ext cx="933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OpenAI API pricing: https://platform.openai.com/docs/pricing/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F0F812-7188-4AAF-A5A6-44F324D16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099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D7B4A4-E8C4-4402-BA63-66B5A2B96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543300"/>
            <a:ext cx="933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India Code DPDP Act: https://www.indiacode.nic.in/indiacode/handle/123456789/22037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A640C4-BBFE-451A-B77F-AF82574F8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67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AAAEF8-F189-4B66-9D9C-850423863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00500"/>
            <a:ext cx="933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ISO/IEC 27001 overview: https://www.iso.org/standard/27001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371760-95F5-480C-A2D3-E1A18FA59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0">
                <a:solidFill>
                  <a:srgbClr val="8793A3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8793A3"/>
                </a:solidFill>
                <a:latin typeface="Aptos"/>
                <a:ea typeface="Aptos"/>
                <a:cs typeface="Aptos"/>
              </a:rPr>
              <a:t>NetraShield MVP | Judge Demo | May 2026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FA133E-7B98-4FB7-A653-D5DC16F29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51510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6758A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582313067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0537A22-27A9-4122-BBCB-333F07F32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DEF795-0F40-4344-9E52-50AF351C9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E9F8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9F8F"/>
                </a:solidFill>
                <a:latin typeface="Aptos"/>
                <a:ea typeface="Aptos"/>
                <a:cs typeface="Aptos"/>
              </a:rPr>
              <a:t>CORE BRAIN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258C6F-E595-4C31-8B8D-A185CE5BA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8858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Adaptive tuning engine that gets more reliable with more data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028874-D51C-4357-BF20-5D6D1A32F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838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58A"/>
                </a:solidFill>
                <a:latin typeface="Aptos"/>
                <a:ea typeface="Aptos"/>
                <a:cs typeface="Aptos"/>
              </a:rPr>
              <a:t>This is not risky model fine-tuning in the MVP. It is a closed-loop SOC tuning memory that learns from alert history, analyst feedback, grouping outcomes, and cache performance.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7807D6-4C24-4A93-B37F-F433E94DD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95450"/>
            <a:ext cx="19526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CD9C27-99C0-49DE-8E8F-2BF89BEE8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95450"/>
            <a:ext cx="195262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2F6F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8B0505-26C7-42C5-90A8-94B9CDE64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85950"/>
            <a:ext cx="16097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1. Normalized Alert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BD2E8E-9F69-434B-B622-60C94AB47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09800"/>
            <a:ext cx="16097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Rule, severity, asset, user, source IP, MITRE, raw evidence summary, and timestamp become a stable SIEM-agnostic object.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648ED9-E708-444C-AB94-65AF4E09C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266950"/>
            <a:ext cx="5524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4D6"/>
          </a:solidFill>
          <a:ln xmlns:a="http://schemas.openxmlformats.org/drawingml/2006/main" w="0">
            <a:solidFill>
              <a:srgbClr val="B8C4D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15683E-356F-42A0-9394-3D99B2550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190750"/>
            <a:ext cx="171450" cy="2095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B8C4D6"/>
          </a:solidFill>
          <a:ln xmlns:a="http://schemas.openxmlformats.org/drawingml/2006/main" w="0">
            <a:solidFill>
              <a:srgbClr val="B8C4D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B8CB89-A57B-4322-BAA8-3704C592B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1695450"/>
            <a:ext cx="19526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6B80FD-F3C5-4A46-A0CE-B710D2EB6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1695450"/>
            <a:ext cx="195262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08B484-1C18-4664-B4DF-6BE3FA6E7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1885950"/>
            <a:ext cx="16097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2. Feature Memory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16D035-EA7B-42EB-9A34-455EBE83D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2209800"/>
            <a:ext cx="16097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Entity frequency, asset criticality, rule history, repeated source patterns, local IOC hits, and previous verdicts.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FD96D6-87B5-48CD-8441-B015C4D6D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266950"/>
            <a:ext cx="5524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4D6"/>
          </a:solidFill>
          <a:ln xmlns:a="http://schemas.openxmlformats.org/drawingml/2006/main" w="0">
            <a:solidFill>
              <a:srgbClr val="B8C4D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4F1651-3310-44DD-8328-54576A99D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190750"/>
            <a:ext cx="171450" cy="2095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B8C4D6"/>
          </a:solidFill>
          <a:ln xmlns:a="http://schemas.openxmlformats.org/drawingml/2006/main" w="0">
            <a:solidFill>
              <a:srgbClr val="B8C4D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5E935F-D5B5-4431-B1B8-C31A5A5A1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1695450"/>
            <a:ext cx="19526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032418-21A5-4063-AF24-70C1497C6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1695450"/>
            <a:ext cx="195262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BCC8B9-9CF3-40D5-AE0B-E3B432D6C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885950"/>
            <a:ext cx="16097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3. Grouping Brain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3CF986-8C69-4502-A80A-D6FF79DAF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209800"/>
            <a:ext cx="16097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Correlation key joins same-kind alerts by rule, host, user, source, MITRE, and time window.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02EAB9-F4F6-4F3A-BDEB-D34136F08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266950"/>
            <a:ext cx="5524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4D6"/>
          </a:solidFill>
          <a:ln xmlns:a="http://schemas.openxmlformats.org/drawingml/2006/main" w="0">
            <a:solidFill>
              <a:srgbClr val="B8C4D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673303-BD8F-4288-97AA-DDCD659C7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190750"/>
            <a:ext cx="171450" cy="2095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B8C4D6"/>
          </a:solidFill>
          <a:ln xmlns:a="http://schemas.openxmlformats.org/drawingml/2006/main" w="0">
            <a:solidFill>
              <a:srgbClr val="B8C4D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8BF74D-6FD7-40CA-ADE8-2A2C9A170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695450"/>
            <a:ext cx="2476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5789615-F5F1-41F5-A92C-6F8A5D4EC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695450"/>
            <a:ext cx="24765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5DD3"/>
          </a:solidFill>
          <a:ln xmlns:a="http://schemas.openxmlformats.org/drawingml/2006/main" w="0">
            <a:solidFill>
              <a:srgbClr val="6B5DD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CD732F6-5470-42AC-970D-8158C53E5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885950"/>
            <a:ext cx="2133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4. AI Router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C57B023-0FBE-4A82-98F9-D828523BC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209800"/>
            <a:ext cx="21336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Offline heuristic or Ollama for bulk triage; cloud mini model only for useful structured reasoning; stronger model only for high ambiguity.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C322030-3385-404D-AE6A-517B90A8C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76650"/>
            <a:ext cx="37528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D634DF6-6944-4A71-A525-059B685BA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905250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Analyst Feedback Loop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9A49C34-85BD-420A-BF90-84264B867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3434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A06B"/>
          </a:solidFill>
          <a:ln xmlns:a="http://schemas.openxmlformats.org/drawingml/2006/main" w="0">
            <a:solidFill>
              <a:srgbClr val="22A06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93C6401-2816-46A1-99A7-C675ABBAA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305300"/>
            <a:ext cx="40957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True positive / false positive / benign admin activity labels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25B49DF-FEC3-4DE1-9E9F-371DE8756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6672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A06B"/>
          </a:solidFill>
          <a:ln xmlns:a="http://schemas.openxmlformats.org/drawingml/2006/main" w="0">
            <a:solidFill>
              <a:srgbClr val="22A06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86B5876-8603-4D00-85F7-65E9243EE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629150"/>
            <a:ext cx="40957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Suppression approval, resolution reason, and case outcome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BFF17B2-7803-49CC-B0C9-0AAF4EC6E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99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A06B"/>
          </a:solidFill>
          <a:ln xmlns:a="http://schemas.openxmlformats.org/drawingml/2006/main" w="0">
            <a:solidFill>
              <a:srgbClr val="22A06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608D7EA-6519-4271-B853-F884A90C4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953000"/>
            <a:ext cx="40957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Promotes repeatable decisions into tuning memory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76B80FD-A81E-4626-BB52-479F1F282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676650"/>
            <a:ext cx="27622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6"/>
          </a:solidFill>
          <a:ln xmlns:a="http://schemas.openxmlformats.org/drawingml/2006/main" w="9525">
            <a:solidFill>
              <a:srgbClr val="F3D38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D9E8C23-6854-432B-8861-F27108E14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9052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Long-Term Reliability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0932BF0-B094-4FEC-ABD3-2F04EE28B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305300"/>
            <a:ext cx="22669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26172"/>
                </a:solidFill>
                <a:latin typeface="Aptos"/>
                <a:ea typeface="Aptos"/>
                <a:cs typeface="Aptos"/>
              </a:rPr>
              <a:t>More alerts produce better baselines: duplicate grouping improves, token calls fall, suppression gets safer, and L2 receives richer evidence.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62E8EEA-A880-45F2-9892-036E6349C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676650"/>
            <a:ext cx="2476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7EF"/>
          </a:solidFill>
          <a:ln xmlns:a="http://schemas.openxmlformats.org/drawingml/2006/main" w="9525">
            <a:solidFill>
              <a:srgbClr val="BDEDD7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BE38D9F-A17B-4246-9A31-8BBFADD3B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90525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Future Upgrade Path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9240761-A58E-43B5-9909-923F6D23A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305300"/>
            <a:ext cx="2000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26172"/>
                </a:solidFill>
                <a:latin typeface="Aptos"/>
                <a:ea typeface="Aptos"/>
                <a:cs typeface="Aptos"/>
              </a:rPr>
              <a:t>After enough validated labels, train customer-specific classifiers or prompt exemplars without sending raw sensitive logs outside.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0F1C852-BABA-419A-8C8B-14FF32F43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5429250"/>
            <a:ext cx="8191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72A"/>
          </a:solidFill>
          <a:ln xmlns:a="http://schemas.openxmlformats.org/drawingml/2006/main" w="0">
            <a:solidFill>
              <a:srgbClr val="0B172A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A13AD78-D845-4C39-AAD6-2B6B577B2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600700"/>
            <a:ext cx="7524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Core brain outcome: fewer repeated alerts, more reliable AI triage, explainable grouping, and lower long-term token cost.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47DE201-DBB3-47CF-81A4-A8AF87CDE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533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8793A3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8793A3"/>
                </a:solidFill>
                <a:latin typeface="Aptos"/>
                <a:ea typeface="Aptos"/>
                <a:cs typeface="Aptos"/>
              </a:rPr>
              <a:t>NetraShield MVP | Judge Demo | May 2026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CDC0CD4-A748-4642-A8D8-8869021D9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51510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6758A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37794459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2026-05-31T16:51:24.5520000Z</dcterms:created>
  <dcterms:modified xsi:type="dcterms:W3CDTF">2026-05-31T16:51:24.5520000Z</dcterms:modified>
</coreProperties>
</file>